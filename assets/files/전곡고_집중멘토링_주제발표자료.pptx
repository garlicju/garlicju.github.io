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3" r:id="rId19"/>
    <p:sldId id="275" r:id="rId20"/>
    <p:sldId id="276" r:id="rId21"/>
    <p:sldId id="277" r:id="rId22"/>
    <p:sldId id="278" r:id="rId23"/>
    <p:sldId id="279" r:id="rId24"/>
    <p:sldId id="281" r:id="rId25"/>
    <p:sldId id="282" r:id="rId26"/>
    <p:sldId id="285" r:id="rId27"/>
    <p:sldId id="284" r:id="rId28"/>
    <p:sldId id="283" r:id="rId29"/>
    <p:sldId id="286" r:id="rId30"/>
    <p:sldId id="287" r:id="rId31"/>
    <p:sldId id="288" r:id="rId32"/>
    <p:sldId id="289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94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4C5CAFE-76E9-44AB-B0CE-1BD56243C774}" type="datetimeFigureOut">
              <a:rPr lang="ko-KR" altLang="en-US" smtClean="0"/>
              <a:t>2023-01-17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FD54040E-2B0B-47B3-A302-0DB398E577D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3632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5CAFE-76E9-44AB-B0CE-1BD56243C774}" type="datetimeFigureOut">
              <a:rPr lang="ko-KR" altLang="en-US" smtClean="0"/>
              <a:t>2023-01-17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040E-2B0B-47B3-A302-0DB398E577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2289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5CAFE-76E9-44AB-B0CE-1BD56243C774}" type="datetimeFigureOut">
              <a:rPr lang="ko-KR" altLang="en-US" smtClean="0"/>
              <a:t>2023-01-17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040E-2B0B-47B3-A302-0DB398E577D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1696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5CAFE-76E9-44AB-B0CE-1BD56243C774}" type="datetimeFigureOut">
              <a:rPr lang="ko-KR" altLang="en-US" smtClean="0"/>
              <a:t>2023-01-17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040E-2B0B-47B3-A302-0DB398E577D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8571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5CAFE-76E9-44AB-B0CE-1BD56243C774}" type="datetimeFigureOut">
              <a:rPr lang="ko-KR" altLang="en-US" smtClean="0"/>
              <a:t>2023-01-17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040E-2B0B-47B3-A302-0DB398E577D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6437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5CAFE-76E9-44AB-B0CE-1BD56243C774}" type="datetimeFigureOut">
              <a:rPr lang="ko-KR" altLang="en-US" smtClean="0"/>
              <a:t>2023-01-17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040E-2B0B-47B3-A302-0DB398E577D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8358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5CAFE-76E9-44AB-B0CE-1BD56243C774}" type="datetimeFigureOut">
              <a:rPr lang="ko-KR" altLang="en-US" smtClean="0"/>
              <a:t>2023-01-17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040E-2B0B-47B3-A302-0DB398E577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9777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5CAFE-76E9-44AB-B0CE-1BD56243C774}" type="datetimeFigureOut">
              <a:rPr lang="ko-KR" altLang="en-US" smtClean="0"/>
              <a:t>2023-01-17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040E-2B0B-47B3-A302-0DB398E577D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1450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5CAFE-76E9-44AB-B0CE-1BD56243C774}" type="datetimeFigureOut">
              <a:rPr lang="ko-KR" altLang="en-US" smtClean="0"/>
              <a:t>2023-01-17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040E-2B0B-47B3-A302-0DB398E577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852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5CAFE-76E9-44AB-B0CE-1BD56243C774}" type="datetimeFigureOut">
              <a:rPr lang="ko-KR" altLang="en-US" smtClean="0"/>
              <a:t>2023-01-17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040E-2B0B-47B3-A302-0DB398E577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0191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5CAFE-76E9-44AB-B0CE-1BD56243C774}" type="datetimeFigureOut">
              <a:rPr lang="ko-KR" altLang="en-US" smtClean="0"/>
              <a:t>2023-01-17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040E-2B0B-47B3-A302-0DB398E577D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4257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5CAFE-76E9-44AB-B0CE-1BD56243C774}" type="datetimeFigureOut">
              <a:rPr lang="ko-KR" altLang="en-US" smtClean="0"/>
              <a:t>2023-01-17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040E-2B0B-47B3-A302-0DB398E577D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0268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5CAFE-76E9-44AB-B0CE-1BD56243C774}" type="datetimeFigureOut">
              <a:rPr lang="ko-KR" altLang="en-US" smtClean="0"/>
              <a:t>2023-01-17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040E-2B0B-47B3-A302-0DB398E577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8156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5CAFE-76E9-44AB-B0CE-1BD56243C774}" type="datetimeFigureOut">
              <a:rPr lang="ko-KR" altLang="en-US" smtClean="0"/>
              <a:t>2023-01-17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040E-2B0B-47B3-A302-0DB398E577D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20006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5CAFE-76E9-44AB-B0CE-1BD56243C774}" type="datetimeFigureOut">
              <a:rPr lang="ko-KR" altLang="en-US" smtClean="0"/>
              <a:t>2023-01-17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040E-2B0B-47B3-A302-0DB398E577D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62225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5CAFE-76E9-44AB-B0CE-1BD56243C774}" type="datetimeFigureOut">
              <a:rPr lang="ko-KR" altLang="en-US" smtClean="0"/>
              <a:t>2023-01-17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040E-2B0B-47B3-A302-0DB398E577D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39187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5CAFE-76E9-44AB-B0CE-1BD56243C774}" type="datetimeFigureOut">
              <a:rPr lang="ko-KR" altLang="en-US" smtClean="0"/>
              <a:t>2023-01-17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040E-2B0B-47B3-A302-0DB398E577D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2247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4C5CAFE-76E9-44AB-B0CE-1BD56243C774}" type="datetimeFigureOut">
              <a:rPr lang="ko-KR" altLang="en-US" smtClean="0"/>
              <a:t>2023-01-17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D54040E-2B0B-47B3-A302-0DB398E577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6764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  <p:sldLayoutId id="2147483834" r:id="rId12"/>
    <p:sldLayoutId id="2147483835" r:id="rId13"/>
    <p:sldLayoutId id="2147483836" r:id="rId14"/>
    <p:sldLayoutId id="2147483837" r:id="rId15"/>
    <p:sldLayoutId id="2147483838" r:id="rId16"/>
    <p:sldLayoutId id="2147483839" r:id="rId17"/>
  </p:sldLayoutIdLst>
  <p:txStyles>
    <p:titleStyle>
      <a:lvl1pPr algn="ctr" defTabSz="457200" rtl="0" eaLnBrk="1" latinLnBrk="1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50F3F9-D9F8-E481-8781-0AC3943722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sz="3200" dirty="0"/>
              <a:t>아담과 이브</a:t>
            </a:r>
            <a:r>
              <a:rPr lang="en-US" altLang="ko-KR" sz="3200" dirty="0"/>
              <a:t>, </a:t>
            </a:r>
            <a:r>
              <a:rPr lang="ko-KR" altLang="en-US" sz="3200" dirty="0"/>
              <a:t>그리고 명제 이야기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6354D4C-8EDD-E504-3746-8B2B8EB240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전곡고등학교 수학 멘토링</a:t>
            </a:r>
            <a:endParaRPr lang="en-US" altLang="ko-KR" dirty="0"/>
          </a:p>
          <a:p>
            <a:r>
              <a:rPr lang="ko-KR" altLang="en-US" dirty="0"/>
              <a:t>멘토 </a:t>
            </a:r>
            <a:r>
              <a:rPr lang="ko-KR" altLang="en-US" dirty="0" err="1"/>
              <a:t>주하늘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11882B5-A5B4-9CB3-2014-B302095DFC8B}"/>
              </a:ext>
            </a:extLst>
          </p:cNvPr>
          <p:cNvSpPr/>
          <p:nvPr/>
        </p:nvSpPr>
        <p:spPr>
          <a:xfrm rot="20248246">
            <a:off x="190874" y="416086"/>
            <a:ext cx="249299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Such Meths</a:t>
            </a:r>
            <a:endParaRPr lang="ko-KR" alt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0736820-1C7C-12A6-F261-B1886015746E}"/>
              </a:ext>
            </a:extLst>
          </p:cNvPr>
          <p:cNvSpPr/>
          <p:nvPr/>
        </p:nvSpPr>
        <p:spPr>
          <a:xfrm rot="840854">
            <a:off x="485859" y="1301887"/>
            <a:ext cx="5946180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0800" h="38100" prst="riblet"/>
            </a:sp3d>
          </a:bodyPr>
          <a:lstStyle/>
          <a:p>
            <a:pPr algn="ctr"/>
            <a:r>
              <a:rPr lang="en-US" altLang="ko-KR" sz="2400" dirty="0">
                <a:ln w="0"/>
                <a:solidFill>
                  <a:srgbClr val="FF0000"/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  <a:reflection blurRad="6350" stA="53000" endA="300" endPos="35500" dir="5400000" sy="-90000" algn="bl" rotWithShape="0"/>
                </a:effectLst>
              </a:rPr>
              <a:t>Holy and very </a:t>
            </a:r>
            <a:r>
              <a:rPr lang="en-US" altLang="ko-KR" sz="2400" dirty="0" err="1">
                <a:ln w="0"/>
                <a:solidFill>
                  <a:srgbClr val="FF0000"/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  <a:reflection blurRad="6350" stA="50000" endA="300" endPos="50000" dist="29997" dir="5400000" sy="-100000" algn="bl" rotWithShape="0"/>
                </a:effectLst>
              </a:rPr>
              <a:t>Lojical</a:t>
            </a:r>
            <a:endParaRPr lang="en-US" altLang="ko-KR" sz="2400" dirty="0">
              <a:ln w="0"/>
              <a:solidFill>
                <a:srgbClr val="FF0000"/>
              </a:solidFill>
              <a:effectLst>
                <a:glow rad="101600">
                  <a:schemeClr val="accent4">
                    <a:satMod val="175000"/>
                    <a:alpha val="40000"/>
                  </a:schemeClr>
                </a:glow>
                <a:reflection blurRad="6350" stA="50000" endA="300" endPos="50000" dist="29997" dir="5400000" sy="-100000" algn="bl" rotWithShape="0"/>
              </a:effectLst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13D3429-15CE-FD30-8006-52D026CA9A56}"/>
              </a:ext>
            </a:extLst>
          </p:cNvPr>
          <p:cNvSpPr/>
          <p:nvPr/>
        </p:nvSpPr>
        <p:spPr>
          <a:xfrm rot="928888">
            <a:off x="651670" y="1561900"/>
            <a:ext cx="1907510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CurveDown">
              <a:avLst/>
            </a:prstTxWarp>
            <a:spAutoFit/>
          </a:bodyPr>
          <a:lstStyle/>
          <a:p>
            <a:pPr algn="ctr"/>
            <a:r>
              <a:rPr lang="en-US" altLang="ko-KR" sz="3600" b="1" dirty="0">
                <a:ln w="22225">
                  <a:solidFill>
                    <a:srgbClr val="002060"/>
                  </a:solidFill>
                  <a:prstDash val="solid"/>
                </a:ln>
                <a:solidFill>
                  <a:srgbClr val="3E94B2"/>
                </a:solidFill>
              </a:rPr>
              <a:t>WOW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36133E7-E340-7D6D-0E6E-FC87231D7A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827" b="95760" l="2869" r="95082">
                        <a14:foregroundMark x1="11475" y1="38516" x2="2869" y2="58304"/>
                        <a14:foregroundMark x1="84426" y1="20495" x2="84426" y2="21908"/>
                        <a14:foregroundMark x1="86885" y1="13074" x2="85656" y2="26148"/>
                        <a14:foregroundMark x1="29508" y1="7067" x2="35246" y2="21555"/>
                        <a14:foregroundMark x1="30738" y1="3180" x2="46311" y2="62544"/>
                        <a14:foregroundMark x1="91393" y1="16254" x2="83197" y2="60071"/>
                        <a14:foregroundMark x1="95082" y1="16608" x2="91803" y2="34982"/>
                        <a14:foregroundMark x1="39754" y1="95760" x2="31557" y2="9328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3044" y="2628897"/>
            <a:ext cx="1201719" cy="139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578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AEC1E8-948E-3B44-4C86-4E5F93C70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저는 무교입니다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DCDDCD-D059-B55F-77AD-3535EC99F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앞으로 할 이야기는 사실무근이며</a:t>
            </a:r>
            <a:r>
              <a:rPr lang="en-US" altLang="ko-KR" dirty="0"/>
              <a:t> </a:t>
            </a:r>
            <a:r>
              <a:rPr lang="ko-KR" altLang="en-US" dirty="0"/>
              <a:t>실제 아담과 이브 </a:t>
            </a:r>
            <a:r>
              <a:rPr lang="ko-KR" altLang="en-US" dirty="0" err="1"/>
              <a:t>이야기와도</a:t>
            </a:r>
            <a:r>
              <a:rPr lang="ko-KR" altLang="en-US" dirty="0"/>
              <a:t> 많이 다를 것이나</a:t>
            </a:r>
            <a:r>
              <a:rPr lang="en-US" altLang="ko-KR" dirty="0"/>
              <a:t>, </a:t>
            </a:r>
            <a:r>
              <a:rPr lang="ko-KR" altLang="en-US" dirty="0"/>
              <a:t>신성모독의 의도는 전혀 없습니다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05473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53CE365-B7FB-1DB4-4672-145DC3F465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신이 세상을 만든 뒤 모든 명제가 생겨났습니다</a:t>
            </a:r>
            <a:r>
              <a:rPr lang="en-US" altLang="ko-KR" sz="2400" dirty="0"/>
              <a:t>. </a:t>
            </a:r>
            <a:r>
              <a:rPr lang="ko-KR" altLang="en-US" sz="2400" dirty="0"/>
              <a:t>신은 </a:t>
            </a:r>
            <a:r>
              <a:rPr lang="en-US" altLang="ko-KR" sz="2400" dirty="0"/>
              <a:t>7</a:t>
            </a:r>
            <a:r>
              <a:rPr lang="ko-KR" altLang="en-US" sz="2400" dirty="0"/>
              <a:t>일 동안 꼬박 각 명제의 참과 거짓을 분류하여 참인 명제는 천사 명제로</a:t>
            </a:r>
            <a:r>
              <a:rPr lang="en-US" altLang="ko-KR" sz="2400" dirty="0"/>
              <a:t>, </a:t>
            </a:r>
            <a:r>
              <a:rPr lang="ko-KR" altLang="en-US" sz="2400" dirty="0"/>
              <a:t>거짓인 명제는 악마 명제로 만들었습니다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F7DBD7B-5547-F32D-64A1-B47856DB6794}"/>
                  </a:ext>
                </a:extLst>
              </p:cNvPr>
              <p:cNvSpPr txBox="1"/>
              <p:nvPr/>
            </p:nvSpPr>
            <p:spPr>
              <a:xfrm rot="20838326">
                <a:off x="8505349" y="3134355"/>
                <a:ext cx="2089226" cy="4453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p>
                              <m:sSup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p>
                            </m:sSup>
                          </m:sup>
                        </m:sSup>
                      </m:sup>
                    </m:sSup>
                  </m:oMath>
                </a14:m>
                <a:r>
                  <a:rPr lang="ko-KR" altLang="en-US" dirty="0"/>
                  <a:t>는 자연수이다</a:t>
                </a:r>
                <a:r>
                  <a:rPr lang="en-US" altLang="ko-KR" dirty="0"/>
                  <a:t>.</a:t>
                </a:r>
                <a:endParaRPr lang="ko-KR" alt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F7DBD7B-5547-F32D-64A1-B47856DB6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838326">
                <a:off x="8505349" y="3134355"/>
                <a:ext cx="2089226" cy="445315"/>
              </a:xfrm>
              <a:prstGeom prst="rect">
                <a:avLst/>
              </a:prstGeom>
              <a:blipFill>
                <a:blip r:embed="rId2"/>
                <a:stretch>
                  <a:fillRect r="-313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88003CA-F334-5B4B-BB3A-E9521BEFAA19}"/>
              </a:ext>
            </a:extLst>
          </p:cNvPr>
          <p:cNvSpPr txBox="1"/>
          <p:nvPr/>
        </p:nvSpPr>
        <p:spPr>
          <a:xfrm rot="291910">
            <a:off x="1310581" y="3244334"/>
            <a:ext cx="4968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인류 멸종의 가장 큰 원인은 기후변화일 것이다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34EC34-14A6-4E07-A4DE-AD9AC5DFF67C}"/>
              </a:ext>
            </a:extLst>
          </p:cNvPr>
          <p:cNvSpPr txBox="1"/>
          <p:nvPr/>
        </p:nvSpPr>
        <p:spPr>
          <a:xfrm rot="21334572">
            <a:off x="4369870" y="1116970"/>
            <a:ext cx="6724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현존하는 모든 사람의 머리카락 개수의 평균은 </a:t>
            </a:r>
            <a:r>
              <a:rPr lang="en-US" altLang="ko-KR" dirty="0"/>
              <a:t>52,800</a:t>
            </a:r>
            <a:r>
              <a:rPr lang="ko-KR" altLang="en-US" dirty="0"/>
              <a:t>개 이상이다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5F715F-114E-D407-387A-74F9F7822360}"/>
              </a:ext>
            </a:extLst>
          </p:cNvPr>
          <p:cNvSpPr txBox="1"/>
          <p:nvPr/>
        </p:nvSpPr>
        <p:spPr>
          <a:xfrm rot="21405431">
            <a:off x="981778" y="1341004"/>
            <a:ext cx="3179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엘비스 </a:t>
            </a:r>
            <a:r>
              <a:rPr lang="ko-KR" altLang="en-US" dirty="0" err="1"/>
              <a:t>프레슬리는</a:t>
            </a:r>
            <a:r>
              <a:rPr lang="ko-KR" altLang="en-US" dirty="0"/>
              <a:t> 살아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E70027-1782-5895-4CDB-E554946A2074}"/>
              </a:ext>
            </a:extLst>
          </p:cNvPr>
          <p:cNvSpPr txBox="1"/>
          <p:nvPr/>
        </p:nvSpPr>
        <p:spPr>
          <a:xfrm rot="292280">
            <a:off x="5250734" y="1994782"/>
            <a:ext cx="6293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지금껏 </a:t>
            </a:r>
            <a:r>
              <a:rPr lang="en-US" altLang="ko-KR" dirty="0"/>
              <a:t>OOO </a:t>
            </a:r>
            <a:r>
              <a:rPr lang="ko-KR" altLang="en-US" dirty="0"/>
              <a:t>국회의원은 총 </a:t>
            </a:r>
            <a:r>
              <a:rPr lang="en-US" altLang="ko-KR" dirty="0"/>
              <a:t>6350</a:t>
            </a:r>
            <a:r>
              <a:rPr lang="ko-KR" altLang="en-US" dirty="0"/>
              <a:t>만 원 상당의 뇌물을 받았다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490729-4FBA-4642-B392-979C9B53C9EF}"/>
              </a:ext>
            </a:extLst>
          </p:cNvPr>
          <p:cNvSpPr txBox="1"/>
          <p:nvPr/>
        </p:nvSpPr>
        <p:spPr>
          <a:xfrm>
            <a:off x="1303868" y="2278502"/>
            <a:ext cx="5136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AI</a:t>
            </a:r>
            <a:r>
              <a:rPr lang="ko-KR" altLang="en-US" dirty="0"/>
              <a:t>기술의 특이점이 지금으로부터 </a:t>
            </a:r>
            <a:r>
              <a:rPr lang="en-US" altLang="ko-KR" dirty="0"/>
              <a:t>30</a:t>
            </a:r>
            <a:r>
              <a:rPr lang="ko-KR" altLang="en-US" dirty="0"/>
              <a:t>년 안에 온다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F6C7A8-EFAC-BA61-0917-7A26DA49E937}"/>
              </a:ext>
            </a:extLst>
          </p:cNvPr>
          <p:cNvSpPr txBox="1"/>
          <p:nvPr/>
        </p:nvSpPr>
        <p:spPr>
          <a:xfrm rot="21239470">
            <a:off x="5634762" y="2714356"/>
            <a:ext cx="3467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신은 주사위 놀이를 하지 않는다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5903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B194C7-09F1-D390-17D8-E6296047A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EABCB3-8A42-B17A-2BDE-0FA601E64E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한편 아담과 이브가 탄생했습니다</a:t>
            </a:r>
            <a:r>
              <a:rPr lang="en-US" altLang="ko-KR" sz="2400" dirty="0"/>
              <a:t>.</a:t>
            </a:r>
          </a:p>
          <a:p>
            <a:r>
              <a:rPr lang="en-US" altLang="ko-KR" sz="2400" dirty="0"/>
              <a:t>(</a:t>
            </a:r>
            <a:r>
              <a:rPr lang="ko-KR" altLang="en-US" sz="2400" dirty="0"/>
              <a:t>퀄리티 죄송</a:t>
            </a:r>
            <a:r>
              <a:rPr lang="en-US" altLang="ko-KR" sz="2400" dirty="0"/>
              <a:t>. </a:t>
            </a:r>
            <a:r>
              <a:rPr lang="ko-KR" altLang="en-US" sz="2400" dirty="0"/>
              <a:t>앞으로도 처참할 예정</a:t>
            </a:r>
            <a:r>
              <a:rPr lang="en-US" altLang="ko-KR" sz="2400" dirty="0"/>
              <a:t>.)</a:t>
            </a:r>
            <a:endParaRPr lang="ko-KR" altLang="en-US" sz="2400" dirty="0"/>
          </a:p>
        </p:txBody>
      </p:sp>
      <p:sp>
        <p:nvSpPr>
          <p:cNvPr id="4" name="웃는 얼굴 3">
            <a:extLst>
              <a:ext uri="{FF2B5EF4-FFF2-40B4-BE49-F238E27FC236}">
                <a16:creationId xmlns:a16="http://schemas.microsoft.com/office/drawing/2014/main" id="{BFDC9007-84FB-F769-98DC-90F36C97F3B3}"/>
              </a:ext>
            </a:extLst>
          </p:cNvPr>
          <p:cNvSpPr/>
          <p:nvPr/>
        </p:nvSpPr>
        <p:spPr>
          <a:xfrm>
            <a:off x="2444817" y="1460902"/>
            <a:ext cx="1963554" cy="1963554"/>
          </a:xfrm>
          <a:prstGeom prst="smileyFace">
            <a:avLst/>
          </a:prstGeom>
          <a:solidFill>
            <a:srgbClr val="00B0F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웃는 얼굴 4">
            <a:extLst>
              <a:ext uri="{FF2B5EF4-FFF2-40B4-BE49-F238E27FC236}">
                <a16:creationId xmlns:a16="http://schemas.microsoft.com/office/drawing/2014/main" id="{01F3981A-218F-80C7-818C-330A48A13C4C}"/>
              </a:ext>
            </a:extLst>
          </p:cNvPr>
          <p:cNvSpPr/>
          <p:nvPr/>
        </p:nvSpPr>
        <p:spPr>
          <a:xfrm>
            <a:off x="7783631" y="1460902"/>
            <a:ext cx="1963554" cy="1963554"/>
          </a:xfrm>
          <a:prstGeom prst="smileyFac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779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840926-6FB1-1FDF-B071-83F61F86B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5CA1CB-F524-0261-AC9D-39E92D7AC8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아담과 이브는 매일 명제들의 산을 뒤적거리면서</a:t>
            </a:r>
            <a:r>
              <a:rPr lang="en-US" altLang="ko-KR" sz="2400" dirty="0"/>
              <a:t>, </a:t>
            </a:r>
            <a:r>
              <a:rPr lang="ko-KR" altLang="en-US" sz="2400" dirty="0"/>
              <a:t>신이 천국이나 지옥으로 보낸 명제들을 보며 세상의 모든 지식을 얻을 수 있었습니다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sp>
        <p:nvSpPr>
          <p:cNvPr id="4" name="웃는 얼굴 3">
            <a:extLst>
              <a:ext uri="{FF2B5EF4-FFF2-40B4-BE49-F238E27FC236}">
                <a16:creationId xmlns:a16="http://schemas.microsoft.com/office/drawing/2014/main" id="{B0420272-0693-FB8F-0F02-78B2897AECA7}"/>
              </a:ext>
            </a:extLst>
          </p:cNvPr>
          <p:cNvSpPr/>
          <p:nvPr/>
        </p:nvSpPr>
        <p:spPr>
          <a:xfrm rot="20052411">
            <a:off x="1310819" y="2056199"/>
            <a:ext cx="1544202" cy="1963554"/>
          </a:xfrm>
          <a:prstGeom prst="smileyFace">
            <a:avLst/>
          </a:prstGeom>
          <a:solidFill>
            <a:srgbClr val="00B0F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웃는 얼굴 4">
            <a:extLst>
              <a:ext uri="{FF2B5EF4-FFF2-40B4-BE49-F238E27FC236}">
                <a16:creationId xmlns:a16="http://schemas.microsoft.com/office/drawing/2014/main" id="{1CE5BACB-D571-1803-5883-EF8CCC454224}"/>
              </a:ext>
            </a:extLst>
          </p:cNvPr>
          <p:cNvSpPr/>
          <p:nvPr/>
        </p:nvSpPr>
        <p:spPr>
          <a:xfrm rot="609958">
            <a:off x="8885843" y="1477789"/>
            <a:ext cx="1335332" cy="1963554"/>
          </a:xfrm>
          <a:prstGeom prst="smileyFac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D0D752-49BD-09C9-01CD-75A44D8A88FF}"/>
              </a:ext>
            </a:extLst>
          </p:cNvPr>
          <p:cNvSpPr txBox="1"/>
          <p:nvPr/>
        </p:nvSpPr>
        <p:spPr>
          <a:xfrm>
            <a:off x="2082920" y="1628084"/>
            <a:ext cx="6859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살면서 번개를 </a:t>
            </a:r>
            <a:r>
              <a:rPr lang="en-US" altLang="ko-KR" dirty="0"/>
              <a:t>7</a:t>
            </a:r>
            <a:r>
              <a:rPr lang="ko-KR" altLang="en-US" dirty="0"/>
              <a:t>번 맞고 생존한 </a:t>
            </a:r>
            <a:r>
              <a:rPr lang="en-US" altLang="ko-KR" dirty="0"/>
              <a:t>20</a:t>
            </a:r>
            <a:r>
              <a:rPr lang="ko-KR" altLang="en-US" dirty="0"/>
              <a:t>세기 사람은 지 총에 맞고 죽었다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7C25E22-8709-305B-8F46-1A96153568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29357" y="814992"/>
            <a:ext cx="1359688" cy="79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00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71A3B6-F08C-13D5-DA6A-579E9ACE7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B44A5E-4A30-FCEF-24CA-89C792D92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신은 또한 아담과 이브에게 명제를 합성하면서 놀게 해 주었습니다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이른바 그리고</a:t>
            </a:r>
            <a:r>
              <a:rPr lang="en-US" altLang="ko-KR" sz="2400" dirty="0"/>
              <a:t>(AND), </a:t>
            </a:r>
            <a:r>
              <a:rPr lang="ko-KR" altLang="en-US" sz="2400" dirty="0"/>
              <a:t>또는</a:t>
            </a:r>
            <a:r>
              <a:rPr lang="en-US" altLang="ko-KR" sz="2400" dirty="0"/>
              <a:t>(OR), ~</a:t>
            </a:r>
            <a:r>
              <a:rPr lang="ko-KR" altLang="en-US" sz="2400" dirty="0"/>
              <a:t>가 아니다</a:t>
            </a:r>
            <a:r>
              <a:rPr lang="en-US" altLang="ko-KR" sz="2400" dirty="0"/>
              <a:t>(NOT), ~</a:t>
            </a:r>
            <a:r>
              <a:rPr lang="ko-KR" altLang="en-US" sz="2400" dirty="0"/>
              <a:t>이면 </a:t>
            </a:r>
            <a:r>
              <a:rPr lang="en-US" altLang="ko-KR" sz="2400" dirty="0"/>
              <a:t>~</a:t>
            </a:r>
            <a:r>
              <a:rPr lang="ko-KR" altLang="en-US" sz="2400" dirty="0"/>
              <a:t>이다</a:t>
            </a:r>
            <a:r>
              <a:rPr lang="en-US" altLang="ko-KR" sz="2400" dirty="0"/>
              <a:t>(</a:t>
            </a:r>
            <a:r>
              <a:rPr lang="en-US" altLang="ko-KR" sz="2400" dirty="0" err="1"/>
              <a:t>if~then</a:t>
            </a:r>
            <a:r>
              <a:rPr lang="en-US" altLang="ko-KR" sz="2400" dirty="0"/>
              <a:t>) </a:t>
            </a:r>
            <a:r>
              <a:rPr lang="ko-KR" altLang="en-US" sz="2400" dirty="0"/>
              <a:t>등을 통해 유한 개의 명제를 합성하게 해 주었습니다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sp>
        <p:nvSpPr>
          <p:cNvPr id="4" name="웃는 얼굴 3">
            <a:extLst>
              <a:ext uri="{FF2B5EF4-FFF2-40B4-BE49-F238E27FC236}">
                <a16:creationId xmlns:a16="http://schemas.microsoft.com/office/drawing/2014/main" id="{239C1A91-D81D-855F-9D21-A9D1B1080642}"/>
              </a:ext>
            </a:extLst>
          </p:cNvPr>
          <p:cNvSpPr/>
          <p:nvPr/>
        </p:nvSpPr>
        <p:spPr>
          <a:xfrm rot="20052411">
            <a:off x="1310819" y="2056199"/>
            <a:ext cx="1544202" cy="1963554"/>
          </a:xfrm>
          <a:prstGeom prst="smileyFace">
            <a:avLst/>
          </a:prstGeom>
          <a:solidFill>
            <a:srgbClr val="00B0F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웃는 얼굴 4">
            <a:extLst>
              <a:ext uri="{FF2B5EF4-FFF2-40B4-BE49-F238E27FC236}">
                <a16:creationId xmlns:a16="http://schemas.microsoft.com/office/drawing/2014/main" id="{9E384482-F84B-0076-F91E-D56D0E116AF7}"/>
              </a:ext>
            </a:extLst>
          </p:cNvPr>
          <p:cNvSpPr/>
          <p:nvPr/>
        </p:nvSpPr>
        <p:spPr>
          <a:xfrm rot="609958">
            <a:off x="8885843" y="1477789"/>
            <a:ext cx="1335332" cy="1963554"/>
          </a:xfrm>
          <a:prstGeom prst="smileyFac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B73766-4FAF-085B-AFF0-8ACC469F2E19}"/>
              </a:ext>
            </a:extLst>
          </p:cNvPr>
          <p:cNvSpPr txBox="1"/>
          <p:nvPr/>
        </p:nvSpPr>
        <p:spPr>
          <a:xfrm>
            <a:off x="1791941" y="1112517"/>
            <a:ext cx="2435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내일 해가 뜨지 않는다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07B91E-57D3-0E35-157D-9214A290728C}"/>
              </a:ext>
            </a:extLst>
          </p:cNvPr>
          <p:cNvSpPr txBox="1"/>
          <p:nvPr/>
        </p:nvSpPr>
        <p:spPr>
          <a:xfrm>
            <a:off x="6631722" y="1097212"/>
            <a:ext cx="2896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아담은 코 파는 원숭이이다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33E3FD8-1C54-01DC-1EB0-C91A83E49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709" y="807882"/>
            <a:ext cx="461745" cy="26188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73181D8-C8E2-0863-EDAF-DFC87E497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322" y="777787"/>
            <a:ext cx="461745" cy="261885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F3B7D88-4D65-EB26-B79B-14658368B8A8}"/>
              </a:ext>
            </a:extLst>
          </p:cNvPr>
          <p:cNvCxnSpPr/>
          <p:nvPr/>
        </p:nvCxnSpPr>
        <p:spPr>
          <a:xfrm>
            <a:off x="4764506" y="1232034"/>
            <a:ext cx="142774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93153D98-0EF2-6381-3F4B-CABDAB7E31DF}"/>
              </a:ext>
            </a:extLst>
          </p:cNvPr>
          <p:cNvCxnSpPr>
            <a:cxnSpLocks/>
          </p:cNvCxnSpPr>
          <p:nvPr/>
        </p:nvCxnSpPr>
        <p:spPr>
          <a:xfrm>
            <a:off x="5458996" y="1375359"/>
            <a:ext cx="0" cy="67377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7883541-D841-23AF-8761-668C50E2FF96}"/>
              </a:ext>
            </a:extLst>
          </p:cNvPr>
          <p:cNvSpPr txBox="1"/>
          <p:nvPr/>
        </p:nvSpPr>
        <p:spPr>
          <a:xfrm>
            <a:off x="3474799" y="2950037"/>
            <a:ext cx="4910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내일 해가 안 뜨면 나 아담은  코 파는 원숭이다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9AAB7F55-77E0-4A15-DDC5-5CE65F396F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60143" y="2117041"/>
            <a:ext cx="1359688" cy="790246"/>
          </a:xfrm>
          <a:prstGeom prst="rect">
            <a:avLst/>
          </a:prstGeom>
        </p:spPr>
      </p:pic>
      <p:sp>
        <p:nvSpPr>
          <p:cNvPr id="18" name="말풍선: 타원형 17">
            <a:extLst>
              <a:ext uri="{FF2B5EF4-FFF2-40B4-BE49-F238E27FC236}">
                <a16:creationId xmlns:a16="http://schemas.microsoft.com/office/drawing/2014/main" id="{BEDD9D0F-0759-23E7-5E4D-41C9E204735D}"/>
              </a:ext>
            </a:extLst>
          </p:cNvPr>
          <p:cNvSpPr/>
          <p:nvPr/>
        </p:nvSpPr>
        <p:spPr>
          <a:xfrm>
            <a:off x="9656092" y="506728"/>
            <a:ext cx="2290058" cy="732063"/>
          </a:xfrm>
          <a:prstGeom prst="wedgeEllipseCallout">
            <a:avLst>
              <a:gd name="adj1" fmla="val -28634"/>
              <a:gd name="adj2" fmla="val 92439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</a:rPr>
              <a:t>그래 </a:t>
            </a:r>
            <a:r>
              <a:rPr lang="ko-KR" altLang="en-US" sz="2000" dirty="0" err="1">
                <a:solidFill>
                  <a:schemeClr val="tx1"/>
                </a:solidFill>
              </a:rPr>
              <a:t>원숭아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8797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631121-AF1C-99ED-37EE-241CB173B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B1B15C-55BA-B948-1465-5BECB349B5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그러던 어느 날</a:t>
            </a:r>
            <a:r>
              <a:rPr lang="en-US" altLang="ko-KR" sz="2400" dirty="0"/>
              <a:t>, </a:t>
            </a:r>
            <a:r>
              <a:rPr lang="ko-KR" altLang="en-US" sz="2400" dirty="0"/>
              <a:t>아담과 이브는 무언가를 떠올렸습니다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sp>
        <p:nvSpPr>
          <p:cNvPr id="4" name="웃는 얼굴 3">
            <a:extLst>
              <a:ext uri="{FF2B5EF4-FFF2-40B4-BE49-F238E27FC236}">
                <a16:creationId xmlns:a16="http://schemas.microsoft.com/office/drawing/2014/main" id="{F69A1117-8BEB-5179-4940-193762750CCA}"/>
              </a:ext>
            </a:extLst>
          </p:cNvPr>
          <p:cNvSpPr/>
          <p:nvPr/>
        </p:nvSpPr>
        <p:spPr>
          <a:xfrm>
            <a:off x="2444817" y="1460902"/>
            <a:ext cx="1963554" cy="1963554"/>
          </a:xfrm>
          <a:prstGeom prst="smileyFace">
            <a:avLst/>
          </a:prstGeom>
          <a:solidFill>
            <a:srgbClr val="00B0F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웃는 얼굴 4">
            <a:extLst>
              <a:ext uri="{FF2B5EF4-FFF2-40B4-BE49-F238E27FC236}">
                <a16:creationId xmlns:a16="http://schemas.microsoft.com/office/drawing/2014/main" id="{56207457-3666-7C92-E315-1747A78009F5}"/>
              </a:ext>
            </a:extLst>
          </p:cNvPr>
          <p:cNvSpPr/>
          <p:nvPr/>
        </p:nvSpPr>
        <p:spPr>
          <a:xfrm>
            <a:off x="7783631" y="1460902"/>
            <a:ext cx="1963554" cy="1963554"/>
          </a:xfrm>
          <a:prstGeom prst="smileyFac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894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1A2659-95C6-591A-CC69-184CD391D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9638F4-09C8-DFA7-799A-F5F299E39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명제들의 산에는 비슷하게 생긴 명제들이 너무 많아서 원하는 명제를 찾기가 너무 힘들었습니다</a:t>
            </a:r>
            <a:r>
              <a:rPr lang="en-US" altLang="ko-KR" sz="2400" dirty="0"/>
              <a:t>. </a:t>
            </a:r>
            <a:r>
              <a:rPr lang="ko-KR" altLang="en-US" sz="2400" dirty="0"/>
              <a:t>그것들을 하나하나 찾아 읽고 결과를 정리하는 일은 꽤 번거로운 일이었습니다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001D18-BB0C-94A9-AAD4-642FCB000BCA}"/>
              </a:ext>
            </a:extLst>
          </p:cNvPr>
          <p:cNvSpPr txBox="1"/>
          <p:nvPr/>
        </p:nvSpPr>
        <p:spPr>
          <a:xfrm>
            <a:off x="1560143" y="2182674"/>
            <a:ext cx="907171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만약 </a:t>
            </a:r>
            <a:r>
              <a:rPr lang="en-US" altLang="ko-KR" dirty="0"/>
              <a:t>2022</a:t>
            </a:r>
            <a:r>
              <a:rPr lang="ko-KR" altLang="en-US" dirty="0"/>
              <a:t>년 </a:t>
            </a:r>
            <a:r>
              <a:rPr lang="en-US" altLang="ko-KR" dirty="0"/>
              <a:t>5</a:t>
            </a:r>
            <a:r>
              <a:rPr lang="ko-KR" altLang="en-US" dirty="0"/>
              <a:t>월 </a:t>
            </a:r>
            <a:r>
              <a:rPr lang="en-US" altLang="ko-KR" dirty="0"/>
              <a:t>10</a:t>
            </a:r>
            <a:r>
              <a:rPr lang="ko-KR" altLang="en-US" dirty="0"/>
              <a:t>일에 </a:t>
            </a:r>
            <a:r>
              <a:rPr lang="ko-KR" altLang="en-US" dirty="0" err="1"/>
              <a:t>한화이글스의</a:t>
            </a:r>
            <a:r>
              <a:rPr lang="ko-KR" altLang="en-US" dirty="0"/>
              <a:t> 야구 경기가 있었다면</a:t>
            </a:r>
            <a:r>
              <a:rPr lang="en-US" altLang="ko-KR" dirty="0"/>
              <a:t>, </a:t>
            </a:r>
            <a:r>
              <a:rPr lang="ko-KR" altLang="en-US" dirty="0"/>
              <a:t>그들은 그 경기에서 이겼다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만약 </a:t>
            </a:r>
            <a:r>
              <a:rPr lang="en-US" altLang="ko-KR" dirty="0"/>
              <a:t>2022</a:t>
            </a:r>
            <a:r>
              <a:rPr lang="ko-KR" altLang="en-US" dirty="0"/>
              <a:t>년 </a:t>
            </a:r>
            <a:r>
              <a:rPr lang="en-US" altLang="ko-KR" dirty="0"/>
              <a:t>5</a:t>
            </a:r>
            <a:r>
              <a:rPr lang="ko-KR" altLang="en-US" dirty="0"/>
              <a:t>월 </a:t>
            </a:r>
            <a:r>
              <a:rPr lang="en-US" altLang="ko-KR" dirty="0"/>
              <a:t>11</a:t>
            </a:r>
            <a:r>
              <a:rPr lang="ko-KR" altLang="en-US" dirty="0"/>
              <a:t>일에 </a:t>
            </a:r>
            <a:r>
              <a:rPr lang="ko-KR" altLang="en-US" dirty="0" err="1"/>
              <a:t>한화이글스의</a:t>
            </a:r>
            <a:r>
              <a:rPr lang="ko-KR" altLang="en-US" dirty="0"/>
              <a:t> 야구 경기가 있었다면</a:t>
            </a:r>
            <a:r>
              <a:rPr lang="en-US" altLang="ko-KR" dirty="0"/>
              <a:t>, </a:t>
            </a:r>
            <a:r>
              <a:rPr lang="ko-KR" altLang="en-US" dirty="0"/>
              <a:t>그들은 그 경기에서 이겼다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만약 </a:t>
            </a:r>
            <a:r>
              <a:rPr lang="en-US" altLang="ko-KR" dirty="0"/>
              <a:t>2022</a:t>
            </a:r>
            <a:r>
              <a:rPr lang="ko-KR" altLang="en-US" dirty="0"/>
              <a:t>년 </a:t>
            </a:r>
            <a:r>
              <a:rPr lang="en-US" altLang="ko-KR" dirty="0"/>
              <a:t>5</a:t>
            </a:r>
            <a:r>
              <a:rPr lang="ko-KR" altLang="en-US" dirty="0"/>
              <a:t>월 </a:t>
            </a:r>
            <a:r>
              <a:rPr lang="en-US" altLang="ko-KR" dirty="0"/>
              <a:t>12</a:t>
            </a:r>
            <a:r>
              <a:rPr lang="ko-KR" altLang="en-US" dirty="0"/>
              <a:t>일에 </a:t>
            </a:r>
            <a:r>
              <a:rPr lang="ko-KR" altLang="en-US" dirty="0" err="1"/>
              <a:t>한화이글스의</a:t>
            </a:r>
            <a:r>
              <a:rPr lang="ko-KR" altLang="en-US" dirty="0"/>
              <a:t> 야구 경기가 있었다면</a:t>
            </a:r>
            <a:r>
              <a:rPr lang="en-US" altLang="ko-KR" dirty="0"/>
              <a:t>, </a:t>
            </a:r>
            <a:r>
              <a:rPr lang="ko-KR" altLang="en-US" dirty="0"/>
              <a:t>그들은 그 경기에서 이겼다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만약 </a:t>
            </a:r>
            <a:r>
              <a:rPr lang="en-US" altLang="ko-KR" dirty="0"/>
              <a:t>2022</a:t>
            </a:r>
            <a:r>
              <a:rPr lang="ko-KR" altLang="en-US" dirty="0"/>
              <a:t>년 </a:t>
            </a:r>
            <a:r>
              <a:rPr lang="en-US" altLang="ko-KR" dirty="0"/>
              <a:t>5</a:t>
            </a:r>
            <a:r>
              <a:rPr lang="ko-KR" altLang="en-US" dirty="0"/>
              <a:t>월 </a:t>
            </a:r>
            <a:r>
              <a:rPr lang="en-US" altLang="ko-KR" dirty="0"/>
              <a:t>13</a:t>
            </a:r>
            <a:r>
              <a:rPr lang="ko-KR" altLang="en-US" dirty="0"/>
              <a:t>일에 </a:t>
            </a:r>
            <a:r>
              <a:rPr lang="ko-KR" altLang="en-US" dirty="0" err="1"/>
              <a:t>한화이글스의</a:t>
            </a:r>
            <a:r>
              <a:rPr lang="ko-KR" altLang="en-US" dirty="0"/>
              <a:t> 야구 경기가 있었다면</a:t>
            </a:r>
            <a:r>
              <a:rPr lang="en-US" altLang="ko-KR" dirty="0"/>
              <a:t>, </a:t>
            </a:r>
            <a:r>
              <a:rPr lang="ko-KR" altLang="en-US" dirty="0"/>
              <a:t>그들은 그 경기에서 이겼다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만약 </a:t>
            </a:r>
            <a:r>
              <a:rPr lang="en-US" altLang="ko-KR" dirty="0"/>
              <a:t>2022</a:t>
            </a:r>
            <a:r>
              <a:rPr lang="ko-KR" altLang="en-US" dirty="0"/>
              <a:t>년 </a:t>
            </a:r>
            <a:r>
              <a:rPr lang="en-US" altLang="ko-KR" dirty="0"/>
              <a:t>5</a:t>
            </a:r>
            <a:r>
              <a:rPr lang="ko-KR" altLang="en-US" dirty="0"/>
              <a:t>월 </a:t>
            </a:r>
            <a:r>
              <a:rPr lang="en-US" altLang="ko-KR" dirty="0"/>
              <a:t>14</a:t>
            </a:r>
            <a:r>
              <a:rPr lang="ko-KR" altLang="en-US" dirty="0"/>
              <a:t>일에 </a:t>
            </a:r>
            <a:r>
              <a:rPr lang="ko-KR" altLang="en-US" dirty="0" err="1"/>
              <a:t>한화이글스의</a:t>
            </a:r>
            <a:r>
              <a:rPr lang="ko-KR" altLang="en-US" dirty="0"/>
              <a:t> 야구 경기가 있었다면</a:t>
            </a:r>
            <a:r>
              <a:rPr lang="en-US" altLang="ko-KR" dirty="0"/>
              <a:t>, </a:t>
            </a:r>
            <a:r>
              <a:rPr lang="ko-KR" altLang="en-US" dirty="0"/>
              <a:t>그들은 그 경기에서 이겼다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만약 </a:t>
            </a:r>
            <a:r>
              <a:rPr lang="en-US" altLang="ko-KR" dirty="0"/>
              <a:t>2022</a:t>
            </a:r>
            <a:r>
              <a:rPr lang="ko-KR" altLang="en-US" dirty="0"/>
              <a:t>년 </a:t>
            </a:r>
            <a:r>
              <a:rPr lang="en-US" altLang="ko-KR" dirty="0"/>
              <a:t>5</a:t>
            </a:r>
            <a:r>
              <a:rPr lang="ko-KR" altLang="en-US" dirty="0"/>
              <a:t>월 </a:t>
            </a:r>
            <a:r>
              <a:rPr lang="en-US" altLang="ko-KR" dirty="0"/>
              <a:t>15</a:t>
            </a:r>
            <a:r>
              <a:rPr lang="ko-KR" altLang="en-US" dirty="0"/>
              <a:t>일에 </a:t>
            </a:r>
            <a:r>
              <a:rPr lang="ko-KR" altLang="en-US" dirty="0" err="1"/>
              <a:t>한화이글스의</a:t>
            </a:r>
            <a:r>
              <a:rPr lang="ko-KR" altLang="en-US" dirty="0"/>
              <a:t> 야구 경기가 있었다면</a:t>
            </a:r>
            <a:r>
              <a:rPr lang="en-US" altLang="ko-KR" dirty="0"/>
              <a:t>, </a:t>
            </a:r>
            <a:r>
              <a:rPr lang="ko-KR" altLang="en-US" dirty="0"/>
              <a:t>그들은 그 경기에서 이겼다</a:t>
            </a:r>
            <a:r>
              <a:rPr lang="en-US" altLang="ko-KR" dirty="0"/>
              <a:t>.</a:t>
            </a:r>
          </a:p>
        </p:txBody>
      </p:sp>
      <p:sp>
        <p:nvSpPr>
          <p:cNvPr id="7" name="웃는 얼굴 6">
            <a:extLst>
              <a:ext uri="{FF2B5EF4-FFF2-40B4-BE49-F238E27FC236}">
                <a16:creationId xmlns:a16="http://schemas.microsoft.com/office/drawing/2014/main" id="{5B2954AF-8E24-0E52-E81A-D0715850AFEB}"/>
              </a:ext>
            </a:extLst>
          </p:cNvPr>
          <p:cNvSpPr/>
          <p:nvPr/>
        </p:nvSpPr>
        <p:spPr>
          <a:xfrm>
            <a:off x="6920565" y="1182715"/>
            <a:ext cx="796759" cy="796759"/>
          </a:xfrm>
          <a:prstGeom prst="smileyFace">
            <a:avLst/>
          </a:prstGeom>
          <a:solidFill>
            <a:srgbClr val="00B0F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웃는 얼굴 7">
            <a:extLst>
              <a:ext uri="{FF2B5EF4-FFF2-40B4-BE49-F238E27FC236}">
                <a16:creationId xmlns:a16="http://schemas.microsoft.com/office/drawing/2014/main" id="{D3794CEC-6334-CA5E-F034-38CE165DA403}"/>
              </a:ext>
            </a:extLst>
          </p:cNvPr>
          <p:cNvSpPr/>
          <p:nvPr/>
        </p:nvSpPr>
        <p:spPr>
          <a:xfrm>
            <a:off x="8486276" y="1182715"/>
            <a:ext cx="796759" cy="796759"/>
          </a:xfrm>
          <a:prstGeom prst="smileyFac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5897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C0B242-992B-6E36-59BE-47540B0EC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C5C098-EEED-ADB1-F888-8EBD686067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그래서 아담과 이브는</a:t>
            </a:r>
            <a:r>
              <a:rPr lang="en-US" altLang="ko-KR" sz="2400" dirty="0"/>
              <a:t>, </a:t>
            </a:r>
            <a:r>
              <a:rPr lang="ko-KR" altLang="en-US" sz="2400" dirty="0"/>
              <a:t>문자에다가 주어진 값 중 하나를 넣을 때마다 명제가 하나 튀어나오는</a:t>
            </a:r>
            <a:r>
              <a:rPr lang="en-US" altLang="ko-KR" sz="2400" dirty="0"/>
              <a:t>, </a:t>
            </a:r>
            <a:r>
              <a:rPr lang="ko-KR" altLang="en-US" sz="2400" dirty="0"/>
              <a:t>이른바 명제로 이루어진 함수를 만드는 방법을 생각해 </a:t>
            </a:r>
            <a:r>
              <a:rPr lang="ko-KR" altLang="en-US" sz="2400" dirty="0" err="1"/>
              <a:t>내었습니다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sp>
        <p:nvSpPr>
          <p:cNvPr id="4" name="웃는 얼굴 3">
            <a:extLst>
              <a:ext uri="{FF2B5EF4-FFF2-40B4-BE49-F238E27FC236}">
                <a16:creationId xmlns:a16="http://schemas.microsoft.com/office/drawing/2014/main" id="{D69B5E86-26F9-AE2A-C488-681EB7BD7FB2}"/>
              </a:ext>
            </a:extLst>
          </p:cNvPr>
          <p:cNvSpPr/>
          <p:nvPr/>
        </p:nvSpPr>
        <p:spPr>
          <a:xfrm>
            <a:off x="2762450" y="1676850"/>
            <a:ext cx="1426677" cy="1426677"/>
          </a:xfrm>
          <a:prstGeom prst="smileyFace">
            <a:avLst/>
          </a:prstGeom>
          <a:solidFill>
            <a:srgbClr val="00B0F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웃는 얼굴 4">
            <a:extLst>
              <a:ext uri="{FF2B5EF4-FFF2-40B4-BE49-F238E27FC236}">
                <a16:creationId xmlns:a16="http://schemas.microsoft.com/office/drawing/2014/main" id="{DC032162-B456-99E5-C02F-7F40AC36B4F1}"/>
              </a:ext>
            </a:extLst>
          </p:cNvPr>
          <p:cNvSpPr/>
          <p:nvPr/>
        </p:nvSpPr>
        <p:spPr>
          <a:xfrm>
            <a:off x="8101264" y="1676850"/>
            <a:ext cx="1426677" cy="1426677"/>
          </a:xfrm>
          <a:prstGeom prst="smileyFac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DC01F3-08D9-0713-E7BD-FC17355AC8C8}"/>
              </a:ext>
            </a:extLst>
          </p:cNvPr>
          <p:cNvSpPr txBox="1"/>
          <p:nvPr/>
        </p:nvSpPr>
        <p:spPr>
          <a:xfrm>
            <a:off x="1739366" y="3244334"/>
            <a:ext cx="8713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만약 </a:t>
            </a:r>
            <a:r>
              <a:rPr lang="en-US" altLang="ko-KR" dirty="0"/>
              <a:t>Y</a:t>
            </a:r>
            <a:r>
              <a:rPr lang="ko-KR" altLang="en-US" dirty="0"/>
              <a:t>년 </a:t>
            </a:r>
            <a:r>
              <a:rPr lang="en-US" altLang="ko-KR" dirty="0"/>
              <a:t>M</a:t>
            </a:r>
            <a:r>
              <a:rPr lang="ko-KR" altLang="en-US" dirty="0"/>
              <a:t>월 </a:t>
            </a:r>
            <a:r>
              <a:rPr lang="en-US" altLang="ko-KR" dirty="0"/>
              <a:t>D</a:t>
            </a:r>
            <a:r>
              <a:rPr lang="ko-KR" altLang="en-US" dirty="0"/>
              <a:t>일에 </a:t>
            </a:r>
            <a:r>
              <a:rPr lang="ko-KR" altLang="en-US" dirty="0" err="1"/>
              <a:t>한화이글스의</a:t>
            </a:r>
            <a:r>
              <a:rPr lang="ko-KR" altLang="en-US" dirty="0"/>
              <a:t> 야구 경기가 있었다면</a:t>
            </a:r>
            <a:r>
              <a:rPr lang="en-US" altLang="ko-KR" dirty="0"/>
              <a:t>, </a:t>
            </a:r>
            <a:r>
              <a:rPr lang="ko-KR" altLang="en-US" dirty="0"/>
              <a:t>그들은 그 경기에서 이겼다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20444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CEDA6F-A547-D42D-5AFF-474D85C80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464869-EC4F-BC81-85BF-534D3605CC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아담과 이브는 그 방법을 고안하고 명제의 산에 이를 뿌리고 다녔습니다</a:t>
            </a:r>
            <a:r>
              <a:rPr lang="en-US" altLang="ko-KR" sz="2400" dirty="0"/>
              <a:t>. </a:t>
            </a:r>
            <a:r>
              <a:rPr lang="ko-KR" altLang="en-US" sz="2400" dirty="0"/>
              <a:t>명제들은 명제 함수로 뭉쳐져 개수가 크게 줄어들었습니다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아담과 이브는 기뻐했으나</a:t>
            </a:r>
            <a:r>
              <a:rPr lang="en-US" altLang="ko-KR" sz="2400" dirty="0"/>
              <a:t>, </a:t>
            </a:r>
            <a:r>
              <a:rPr lang="ko-KR" altLang="en-US" sz="2400" dirty="0"/>
              <a:t>곧바로 이것이 실수였음을 </a:t>
            </a:r>
            <a:r>
              <a:rPr lang="ko-KR" altLang="en-US" sz="2400" dirty="0" err="1"/>
              <a:t>깨달았습니다</a:t>
            </a:r>
            <a:r>
              <a:rPr lang="en-US" altLang="ko-KR" sz="2400" dirty="0"/>
              <a:t>.</a:t>
            </a:r>
          </a:p>
        </p:txBody>
      </p:sp>
      <p:sp>
        <p:nvSpPr>
          <p:cNvPr id="4" name="웃는 얼굴 3">
            <a:extLst>
              <a:ext uri="{FF2B5EF4-FFF2-40B4-BE49-F238E27FC236}">
                <a16:creationId xmlns:a16="http://schemas.microsoft.com/office/drawing/2014/main" id="{C7651FB5-E2B8-2399-432F-13B70CBE9C76}"/>
              </a:ext>
            </a:extLst>
          </p:cNvPr>
          <p:cNvSpPr/>
          <p:nvPr/>
        </p:nvSpPr>
        <p:spPr>
          <a:xfrm>
            <a:off x="2762450" y="1676850"/>
            <a:ext cx="1426677" cy="1426677"/>
          </a:xfrm>
          <a:prstGeom prst="smileyFace">
            <a:avLst/>
          </a:prstGeom>
          <a:solidFill>
            <a:srgbClr val="00B0F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웃는 얼굴 4">
            <a:extLst>
              <a:ext uri="{FF2B5EF4-FFF2-40B4-BE49-F238E27FC236}">
                <a16:creationId xmlns:a16="http://schemas.microsoft.com/office/drawing/2014/main" id="{5E2871C4-9507-E6A7-B9D5-080F64676FAF}"/>
              </a:ext>
            </a:extLst>
          </p:cNvPr>
          <p:cNvSpPr/>
          <p:nvPr/>
        </p:nvSpPr>
        <p:spPr>
          <a:xfrm>
            <a:off x="8101264" y="1676850"/>
            <a:ext cx="1426677" cy="1426677"/>
          </a:xfrm>
          <a:prstGeom prst="smileyFac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7FE33D-C1B3-6D26-6D0F-8450FA1808DF}"/>
              </a:ext>
            </a:extLst>
          </p:cNvPr>
          <p:cNvSpPr txBox="1"/>
          <p:nvPr/>
        </p:nvSpPr>
        <p:spPr>
          <a:xfrm>
            <a:off x="835585" y="3428913"/>
            <a:ext cx="10520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</a:t>
            </a:r>
            <a:r>
              <a:rPr lang="ko-KR" altLang="en-US" dirty="0"/>
              <a:t>년 </a:t>
            </a:r>
            <a:r>
              <a:rPr lang="en-US" altLang="ko-KR" dirty="0"/>
              <a:t>B</a:t>
            </a:r>
            <a:r>
              <a:rPr lang="ko-KR" altLang="en-US" dirty="0"/>
              <a:t>월 </a:t>
            </a:r>
            <a:r>
              <a:rPr lang="en-US" altLang="ko-KR" dirty="0"/>
              <a:t>C</a:t>
            </a:r>
            <a:r>
              <a:rPr lang="ko-KR" altLang="en-US" dirty="0"/>
              <a:t>일 </a:t>
            </a:r>
            <a:r>
              <a:rPr lang="en-US" altLang="ko-KR" dirty="0"/>
              <a:t>D</a:t>
            </a:r>
            <a:r>
              <a:rPr lang="ko-KR" altLang="en-US" dirty="0"/>
              <a:t>시 </a:t>
            </a:r>
            <a:r>
              <a:rPr lang="en-US" altLang="ko-KR" dirty="0"/>
              <a:t>E</a:t>
            </a:r>
            <a:r>
              <a:rPr lang="ko-KR" altLang="en-US" dirty="0"/>
              <a:t>분 </a:t>
            </a:r>
            <a:r>
              <a:rPr lang="en-US" altLang="ko-KR" dirty="0"/>
              <a:t>F</a:t>
            </a:r>
            <a:r>
              <a:rPr lang="ko-KR" altLang="en-US" dirty="0"/>
              <a:t>초</a:t>
            </a:r>
            <a:r>
              <a:rPr lang="en-US" altLang="ko-KR" dirty="0"/>
              <a:t>, </a:t>
            </a:r>
            <a:r>
              <a:rPr lang="ko-KR" altLang="en-US" dirty="0"/>
              <a:t>유저 아이디가 </a:t>
            </a:r>
            <a:r>
              <a:rPr lang="en-US" altLang="ko-KR" dirty="0"/>
              <a:t>G</a:t>
            </a:r>
            <a:r>
              <a:rPr lang="ko-KR" altLang="en-US" dirty="0"/>
              <a:t>인 </a:t>
            </a:r>
            <a:r>
              <a:rPr lang="ko-KR" altLang="en-US" dirty="0" err="1"/>
              <a:t>유튜버의</a:t>
            </a:r>
            <a:r>
              <a:rPr lang="ko-KR" altLang="en-US" dirty="0"/>
              <a:t> </a:t>
            </a:r>
            <a:r>
              <a:rPr lang="en-US" altLang="ko-KR" dirty="0"/>
              <a:t>H</a:t>
            </a:r>
            <a:r>
              <a:rPr lang="ko-KR" altLang="en-US" dirty="0"/>
              <a:t>번째 영상에 </a:t>
            </a:r>
            <a:r>
              <a:rPr lang="en-US" altLang="ko-KR" dirty="0"/>
              <a:t>I</a:t>
            </a:r>
            <a:r>
              <a:rPr lang="ko-KR" altLang="en-US" dirty="0"/>
              <a:t>라는 내용의 댓글이 달렸습니다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4199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538504-2B22-6D72-BD75-39E98603E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6F98466-0C03-7FE4-8E18-F45EA03FE8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명제를 합치는 이 방식은 신이 아담과 이브에게 내려 준 것이 아니었기에</a:t>
            </a:r>
            <a:r>
              <a:rPr lang="en-US" altLang="ko-KR" sz="2400" dirty="0"/>
              <a:t>, </a:t>
            </a:r>
            <a:r>
              <a:rPr lang="ko-KR" altLang="en-US" sz="2400" dirty="0"/>
              <a:t>명제들은 명제 함수로 묶여 수가 많이 줄어든 대신 참과 거짓이 모호하게 되었습니다</a:t>
            </a:r>
            <a:r>
              <a:rPr lang="en-US" altLang="ko-KR" sz="24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FBA0C3-343E-95D3-CD74-11E25E0F7892}"/>
              </a:ext>
            </a:extLst>
          </p:cNvPr>
          <p:cNvSpPr txBox="1"/>
          <p:nvPr/>
        </p:nvSpPr>
        <p:spPr>
          <a:xfrm>
            <a:off x="4176243" y="2167178"/>
            <a:ext cx="38395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/>
              <a:t>x + 3 = 7 (</a:t>
            </a:r>
            <a:r>
              <a:rPr lang="ko-KR" altLang="en-US" sz="3200" dirty="0"/>
              <a:t>참</a:t>
            </a:r>
            <a:r>
              <a:rPr lang="en-US" altLang="ko-KR" sz="3200" dirty="0"/>
              <a:t>? </a:t>
            </a:r>
            <a:r>
              <a:rPr lang="ko-KR" altLang="en-US" sz="3200" dirty="0"/>
              <a:t>거짓</a:t>
            </a:r>
            <a:r>
              <a:rPr lang="en-US" altLang="ko-KR" sz="3200" dirty="0"/>
              <a:t>??)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712774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15D734-74AF-FB4B-46AE-A4B25C417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B51F6E-18BA-A338-9ED8-C800CF9C26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신은 자신이 참과 거짓으로 열심히 분류한 명제의 진릿값들이 마구 뒤섞인 것을 보고 크게 분노하여</a:t>
            </a:r>
            <a:r>
              <a:rPr lang="en-US" altLang="ko-KR" sz="2400" dirty="0"/>
              <a:t>, </a:t>
            </a:r>
            <a:r>
              <a:rPr lang="ko-KR" altLang="en-US" sz="2400" dirty="0"/>
              <a:t>아담과 이브에게 끝없는 명제함수들의 참</a:t>
            </a:r>
            <a:r>
              <a:rPr lang="en-US" altLang="ko-KR" sz="2400" dirty="0"/>
              <a:t>, </a:t>
            </a:r>
            <a:r>
              <a:rPr lang="ko-KR" altLang="en-US" sz="2400" dirty="0"/>
              <a:t>거짓을 분류하여 표기하는 형벌을 내렸습니다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sp>
        <p:nvSpPr>
          <p:cNvPr id="4" name="웃는 얼굴 3">
            <a:extLst>
              <a:ext uri="{FF2B5EF4-FFF2-40B4-BE49-F238E27FC236}">
                <a16:creationId xmlns:a16="http://schemas.microsoft.com/office/drawing/2014/main" id="{C8391983-DCFF-C394-0644-F47BC012E42E}"/>
              </a:ext>
            </a:extLst>
          </p:cNvPr>
          <p:cNvSpPr/>
          <p:nvPr/>
        </p:nvSpPr>
        <p:spPr>
          <a:xfrm>
            <a:off x="6785810" y="2974206"/>
            <a:ext cx="1963554" cy="652380"/>
          </a:xfrm>
          <a:prstGeom prst="smileyFace">
            <a:avLst/>
          </a:prstGeom>
          <a:solidFill>
            <a:srgbClr val="00B0F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웃는 얼굴 4">
            <a:extLst>
              <a:ext uri="{FF2B5EF4-FFF2-40B4-BE49-F238E27FC236}">
                <a16:creationId xmlns:a16="http://schemas.microsoft.com/office/drawing/2014/main" id="{65511AEB-F1CA-9EED-9941-2947543156BF}"/>
              </a:ext>
            </a:extLst>
          </p:cNvPr>
          <p:cNvSpPr/>
          <p:nvPr/>
        </p:nvSpPr>
        <p:spPr>
          <a:xfrm>
            <a:off x="9188919" y="2974206"/>
            <a:ext cx="1963554" cy="652380"/>
          </a:xfrm>
          <a:prstGeom prst="smileyFac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CFABFB-C192-AFFE-A62A-E3A8A0AB3ED6}"/>
              </a:ext>
            </a:extLst>
          </p:cNvPr>
          <p:cNvSpPr txBox="1"/>
          <p:nvPr/>
        </p:nvSpPr>
        <p:spPr>
          <a:xfrm>
            <a:off x="8441356" y="3626586"/>
            <a:ext cx="2646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넹</a:t>
            </a:r>
            <a:r>
              <a:rPr lang="en-US" altLang="ko-KR" dirty="0"/>
              <a:t>					</a:t>
            </a:r>
            <a:r>
              <a:rPr lang="ko-KR" altLang="en-US" sz="1200" dirty="0"/>
              <a:t>면</a:t>
            </a:r>
            <a:endParaRPr lang="ko-KR" altLang="en-US" dirty="0"/>
          </a:p>
        </p:txBody>
      </p:sp>
      <p:sp>
        <p:nvSpPr>
          <p:cNvPr id="7" name="별: 꼭짓점 7개 6">
            <a:extLst>
              <a:ext uri="{FF2B5EF4-FFF2-40B4-BE49-F238E27FC236}">
                <a16:creationId xmlns:a16="http://schemas.microsoft.com/office/drawing/2014/main" id="{9D307A47-2880-C76A-74BD-AEADA9B035C8}"/>
              </a:ext>
            </a:extLst>
          </p:cNvPr>
          <p:cNvSpPr/>
          <p:nvPr/>
        </p:nvSpPr>
        <p:spPr>
          <a:xfrm>
            <a:off x="-2425566" y="-1376414"/>
            <a:ext cx="6480302" cy="4350619"/>
          </a:xfrm>
          <a:prstGeom prst="star7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FF4F46-2B69-6616-E7A6-FBC7DDD3C269}"/>
              </a:ext>
            </a:extLst>
          </p:cNvPr>
          <p:cNvSpPr txBox="1"/>
          <p:nvPr/>
        </p:nvSpPr>
        <p:spPr>
          <a:xfrm>
            <a:off x="3349591" y="1732548"/>
            <a:ext cx="40446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err="1"/>
              <a:t>니네</a:t>
            </a:r>
            <a:r>
              <a:rPr lang="ko-KR" altLang="en-US" sz="2800" dirty="0"/>
              <a:t> 죄를 </a:t>
            </a:r>
            <a:r>
              <a:rPr lang="ko-KR" altLang="en-US" sz="2800" dirty="0" err="1"/>
              <a:t>니네가</a:t>
            </a:r>
            <a:r>
              <a:rPr lang="ko-KR" altLang="en-US" sz="2800" dirty="0"/>
              <a:t> </a:t>
            </a:r>
            <a:r>
              <a:rPr lang="ko-KR" altLang="en-US" sz="2800" dirty="0" err="1"/>
              <a:t>알렷다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318889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9FCFFB9-2CD7-E80E-E401-4E856F5D2C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명제함수는 굉장히 많기도 했지만</a:t>
            </a:r>
            <a:r>
              <a:rPr lang="en-US" altLang="ko-KR" sz="2400" dirty="0"/>
              <a:t>, </a:t>
            </a:r>
            <a:r>
              <a:rPr lang="ko-KR" altLang="en-US" sz="2400" dirty="0"/>
              <a:t>단순히 참</a:t>
            </a:r>
            <a:r>
              <a:rPr lang="en-US" altLang="ko-KR" sz="2400" dirty="0"/>
              <a:t>, </a:t>
            </a:r>
            <a:r>
              <a:rPr lang="ko-KR" altLang="en-US" sz="2400" dirty="0"/>
              <a:t>거짓으로 나누는 것이 불가능하여 곤란했습니다</a:t>
            </a:r>
            <a:r>
              <a:rPr lang="en-US" altLang="ko-KR" sz="2400" dirty="0"/>
              <a:t>. </a:t>
            </a:r>
            <a:r>
              <a:rPr lang="ko-KR" altLang="en-US" sz="2400" dirty="0"/>
              <a:t>심지어 명제함수들은 참으로 분류되어 천사가 되기를 간절히 원하고 있었습니다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CDFBA3-956A-F66E-4B84-0DC01C7FDF1F}"/>
              </a:ext>
            </a:extLst>
          </p:cNvPr>
          <p:cNvSpPr txBox="1"/>
          <p:nvPr/>
        </p:nvSpPr>
        <p:spPr>
          <a:xfrm>
            <a:off x="1739366" y="2499212"/>
            <a:ext cx="63145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/>
              <a:t>x + 3 = 7 (`</a:t>
            </a:r>
            <a:r>
              <a:rPr lang="ko-KR" altLang="en-US" sz="3200" dirty="0"/>
              <a:t>거의</a:t>
            </a:r>
            <a:r>
              <a:rPr lang="en-US" altLang="ko-KR" sz="3200" dirty="0"/>
              <a:t>’</a:t>
            </a:r>
            <a:r>
              <a:rPr lang="ko-KR" altLang="en-US" sz="3200" dirty="0"/>
              <a:t> 거짓인 명제함수</a:t>
            </a:r>
            <a:r>
              <a:rPr lang="en-US" altLang="ko-KR" sz="3200" dirty="0"/>
              <a:t>?)</a:t>
            </a:r>
            <a:endParaRPr lang="ko-KR" alt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590A54-BD42-F87F-AC81-9C7998605523}"/>
              </a:ext>
            </a:extLst>
          </p:cNvPr>
          <p:cNvSpPr txBox="1"/>
          <p:nvPr/>
        </p:nvSpPr>
        <p:spPr>
          <a:xfrm>
            <a:off x="1739366" y="3244334"/>
            <a:ext cx="87132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만약 </a:t>
            </a:r>
            <a:r>
              <a:rPr lang="en-US" altLang="ko-KR" dirty="0"/>
              <a:t>Y</a:t>
            </a:r>
            <a:r>
              <a:rPr lang="ko-KR" altLang="en-US" dirty="0"/>
              <a:t>년 </a:t>
            </a:r>
            <a:r>
              <a:rPr lang="en-US" altLang="ko-KR" dirty="0"/>
              <a:t>M</a:t>
            </a:r>
            <a:r>
              <a:rPr lang="ko-KR" altLang="en-US" dirty="0"/>
              <a:t>월 </a:t>
            </a:r>
            <a:r>
              <a:rPr lang="en-US" altLang="ko-KR" dirty="0"/>
              <a:t>D</a:t>
            </a:r>
            <a:r>
              <a:rPr lang="ko-KR" altLang="en-US" dirty="0"/>
              <a:t>일에 </a:t>
            </a:r>
            <a:r>
              <a:rPr lang="ko-KR" altLang="en-US" dirty="0" err="1"/>
              <a:t>한화이글스의</a:t>
            </a:r>
            <a:r>
              <a:rPr lang="ko-KR" altLang="en-US" dirty="0"/>
              <a:t> 야구 경기가 있었다면</a:t>
            </a:r>
            <a:r>
              <a:rPr lang="en-US" altLang="ko-KR" dirty="0"/>
              <a:t>, </a:t>
            </a:r>
            <a:r>
              <a:rPr lang="ko-KR" altLang="en-US" dirty="0"/>
              <a:t>그들은 그 경기에서 이겼다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(</a:t>
            </a:r>
            <a:r>
              <a:rPr lang="ko-KR" altLang="en-US" dirty="0"/>
              <a:t>약간 거짓인 명제함수</a:t>
            </a:r>
            <a:r>
              <a:rPr lang="en-US" altLang="ko-KR" dirty="0"/>
              <a:t>?)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62E56C-45E1-006C-D8A3-13DD47303F68}"/>
              </a:ext>
            </a:extLst>
          </p:cNvPr>
          <p:cNvSpPr txBox="1"/>
          <p:nvPr/>
        </p:nvSpPr>
        <p:spPr>
          <a:xfrm>
            <a:off x="1739365" y="1794222"/>
            <a:ext cx="80890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/>
              <a:t>자연수 </a:t>
            </a:r>
            <a:r>
              <a:rPr lang="en-US" altLang="ko-KR" sz="3200" dirty="0"/>
              <a:t>n</a:t>
            </a:r>
            <a:r>
              <a:rPr lang="ko-KR" altLang="en-US" sz="3200" dirty="0"/>
              <a:t>은 짝수이다</a:t>
            </a:r>
            <a:r>
              <a:rPr lang="en-US" altLang="ko-KR" sz="3200" dirty="0"/>
              <a:t> (`</a:t>
            </a:r>
            <a:r>
              <a:rPr lang="ko-KR" altLang="en-US" sz="3200" dirty="0"/>
              <a:t>반만</a:t>
            </a:r>
            <a:r>
              <a:rPr lang="en-US" altLang="ko-KR" sz="3200" dirty="0"/>
              <a:t>’ </a:t>
            </a:r>
            <a:r>
              <a:rPr lang="ko-KR" altLang="en-US" sz="3200" dirty="0"/>
              <a:t>참인 명제함수</a:t>
            </a:r>
            <a:r>
              <a:rPr lang="en-US" altLang="ko-KR" sz="3200" dirty="0"/>
              <a:t>?)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687295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8F66DF-9699-2A8B-A9AC-5481BB133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E94915A-EEA0-EC98-1B33-B4612B1BDF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그래도 아담과 이브는 심판관으로서 최선을 다했습니다</a:t>
            </a:r>
            <a:r>
              <a:rPr lang="en-US" altLang="ko-KR" sz="2400" dirty="0"/>
              <a:t>. </a:t>
            </a:r>
            <a:r>
              <a:rPr lang="ko-KR" altLang="en-US" sz="2400" dirty="0"/>
              <a:t>어떨 때는 참이고 어떨 때는 거짓인 명제함수를 하나씩 불러</a:t>
            </a:r>
            <a:r>
              <a:rPr lang="en-US" altLang="ko-KR" sz="2400" dirty="0"/>
              <a:t>,</a:t>
            </a:r>
            <a:r>
              <a:rPr lang="ko-KR" altLang="en-US" sz="2400" dirty="0"/>
              <a:t> 그들의 참</a:t>
            </a:r>
            <a:r>
              <a:rPr lang="en-US" altLang="ko-KR" sz="2400" dirty="0"/>
              <a:t>/</a:t>
            </a:r>
            <a:r>
              <a:rPr lang="ko-KR" altLang="en-US" sz="2400" dirty="0"/>
              <a:t>거짓을 판정해 주었습니다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sp>
        <p:nvSpPr>
          <p:cNvPr id="5" name="웃는 얼굴 4">
            <a:extLst>
              <a:ext uri="{FF2B5EF4-FFF2-40B4-BE49-F238E27FC236}">
                <a16:creationId xmlns:a16="http://schemas.microsoft.com/office/drawing/2014/main" id="{F79FF40D-9712-EED0-18E8-5FF4045A27A5}"/>
              </a:ext>
            </a:extLst>
          </p:cNvPr>
          <p:cNvSpPr/>
          <p:nvPr/>
        </p:nvSpPr>
        <p:spPr>
          <a:xfrm>
            <a:off x="2762450" y="1676850"/>
            <a:ext cx="1426677" cy="1426677"/>
          </a:xfrm>
          <a:prstGeom prst="smileyFace">
            <a:avLst/>
          </a:prstGeom>
          <a:solidFill>
            <a:srgbClr val="00B0F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웃는 얼굴 5">
            <a:extLst>
              <a:ext uri="{FF2B5EF4-FFF2-40B4-BE49-F238E27FC236}">
                <a16:creationId xmlns:a16="http://schemas.microsoft.com/office/drawing/2014/main" id="{E3C35958-3D49-CC7A-E47A-4D324C420F25}"/>
              </a:ext>
            </a:extLst>
          </p:cNvPr>
          <p:cNvSpPr/>
          <p:nvPr/>
        </p:nvSpPr>
        <p:spPr>
          <a:xfrm>
            <a:off x="8101264" y="1676850"/>
            <a:ext cx="1426677" cy="1426677"/>
          </a:xfrm>
          <a:prstGeom prst="smileyFac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1F900E-626B-F563-559F-C3C8E2AD3967}"/>
              </a:ext>
            </a:extLst>
          </p:cNvPr>
          <p:cNvSpPr txBox="1"/>
          <p:nvPr/>
        </p:nvSpPr>
        <p:spPr>
          <a:xfrm>
            <a:off x="7623209" y="3244334"/>
            <a:ext cx="31470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우리 얼굴 좀 그만 우려 먹어라 하늘아</a:t>
            </a:r>
          </a:p>
        </p:txBody>
      </p:sp>
    </p:spTree>
    <p:extLst>
      <p:ext uri="{BB962C8B-B14F-4D97-AF65-F5344CB8AC3E}">
        <p14:creationId xmlns:p14="http://schemas.microsoft.com/office/powerpoint/2010/main" val="3013205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6AB366-720A-AF5D-81A3-10017F818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C372B1-B006-4281-94A5-923AC1688D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하지만 날이 가면 갈수록</a:t>
            </a:r>
            <a:r>
              <a:rPr lang="en-US" altLang="ko-KR" sz="2400" dirty="0"/>
              <a:t> </a:t>
            </a:r>
            <a:r>
              <a:rPr lang="ko-KR" altLang="en-US" sz="2400" dirty="0"/>
              <a:t>아담과 이브의 견해가 대립했습니다</a:t>
            </a:r>
            <a:r>
              <a:rPr lang="en-US" altLang="ko-KR" sz="2400" dirty="0"/>
              <a:t>. </a:t>
            </a:r>
            <a:r>
              <a:rPr lang="ko-KR" altLang="en-US" sz="2400" dirty="0"/>
              <a:t>간곡히 천사가 되길 요청하는 명제함수들 앞에서 아담은 냉정함을 찾으려 했고</a:t>
            </a:r>
            <a:r>
              <a:rPr lang="en-US" altLang="ko-KR" sz="2400" dirty="0"/>
              <a:t>, </a:t>
            </a:r>
            <a:r>
              <a:rPr lang="ko-KR" altLang="en-US" sz="2400" dirty="0"/>
              <a:t>이브는 공감해 주고자 했습니다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sp>
        <p:nvSpPr>
          <p:cNvPr id="4" name="웃는 얼굴 3">
            <a:extLst>
              <a:ext uri="{FF2B5EF4-FFF2-40B4-BE49-F238E27FC236}">
                <a16:creationId xmlns:a16="http://schemas.microsoft.com/office/drawing/2014/main" id="{51B4BEDB-69B4-8EFB-BAD1-DE224A078EE7}"/>
              </a:ext>
            </a:extLst>
          </p:cNvPr>
          <p:cNvSpPr/>
          <p:nvPr/>
        </p:nvSpPr>
        <p:spPr>
          <a:xfrm>
            <a:off x="2223435" y="1676849"/>
            <a:ext cx="1426677" cy="1426677"/>
          </a:xfrm>
          <a:prstGeom prst="smileyFace">
            <a:avLst/>
          </a:prstGeom>
          <a:solidFill>
            <a:srgbClr val="00B0F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웃는 얼굴 4">
            <a:extLst>
              <a:ext uri="{FF2B5EF4-FFF2-40B4-BE49-F238E27FC236}">
                <a16:creationId xmlns:a16="http://schemas.microsoft.com/office/drawing/2014/main" id="{ECD9FCCF-D0B5-0A72-06D6-AD6546BC7427}"/>
              </a:ext>
            </a:extLst>
          </p:cNvPr>
          <p:cNvSpPr/>
          <p:nvPr/>
        </p:nvSpPr>
        <p:spPr>
          <a:xfrm>
            <a:off x="8541888" y="1676848"/>
            <a:ext cx="1426677" cy="1426677"/>
          </a:xfrm>
          <a:prstGeom prst="smileyFac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84881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6AB366-720A-AF5D-81A3-10017F818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C372B1-B006-4281-94A5-923AC1688D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두 심판관의 의견 충돌이 갈수록 심해지자</a:t>
            </a:r>
            <a:r>
              <a:rPr lang="en-US" altLang="ko-KR" sz="2400" dirty="0"/>
              <a:t>, </a:t>
            </a:r>
            <a:r>
              <a:rPr lang="ko-KR" altLang="en-US" sz="2400" dirty="0"/>
              <a:t>그들은 갈라서서 각자의 심판장을 세웠습니다</a:t>
            </a:r>
            <a:r>
              <a:rPr lang="en-US" altLang="ko-KR" sz="2400" dirty="0"/>
              <a:t>. </a:t>
            </a:r>
            <a:r>
              <a:rPr lang="ko-KR" altLang="en-US" sz="2400" dirty="0"/>
              <a:t>명제함수는 두 심판관 중 한 명에게 임의로 배정되어 판결을 기다리게 되었습니다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sp>
        <p:nvSpPr>
          <p:cNvPr id="6" name="웃는 얼굴 5">
            <a:extLst>
              <a:ext uri="{FF2B5EF4-FFF2-40B4-BE49-F238E27FC236}">
                <a16:creationId xmlns:a16="http://schemas.microsoft.com/office/drawing/2014/main" id="{CA627F73-FE44-5A29-B8D9-79C963B67658}"/>
              </a:ext>
            </a:extLst>
          </p:cNvPr>
          <p:cNvSpPr/>
          <p:nvPr/>
        </p:nvSpPr>
        <p:spPr>
          <a:xfrm>
            <a:off x="2223435" y="1676849"/>
            <a:ext cx="1426677" cy="1426677"/>
          </a:xfrm>
          <a:prstGeom prst="smileyFace">
            <a:avLst/>
          </a:prstGeom>
          <a:solidFill>
            <a:srgbClr val="00B0F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웃는 얼굴 6">
            <a:extLst>
              <a:ext uri="{FF2B5EF4-FFF2-40B4-BE49-F238E27FC236}">
                <a16:creationId xmlns:a16="http://schemas.microsoft.com/office/drawing/2014/main" id="{EE15CA93-D9F5-18B4-1601-123B69700401}"/>
              </a:ext>
            </a:extLst>
          </p:cNvPr>
          <p:cNvSpPr/>
          <p:nvPr/>
        </p:nvSpPr>
        <p:spPr>
          <a:xfrm>
            <a:off x="8541888" y="1676848"/>
            <a:ext cx="1426677" cy="1426677"/>
          </a:xfrm>
          <a:prstGeom prst="smileyFac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7548305-C9B8-7009-7320-E25111F1CBCA}"/>
              </a:ext>
            </a:extLst>
          </p:cNvPr>
          <p:cNvCxnSpPr/>
          <p:nvPr/>
        </p:nvCxnSpPr>
        <p:spPr>
          <a:xfrm flipH="1">
            <a:off x="5216893" y="616017"/>
            <a:ext cx="1626669" cy="35035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91344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6AB366-720A-AF5D-81A3-10017F818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C372B1-B006-4281-94A5-923AC1688D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3600" dirty="0"/>
              <a:t>그렇게 수없이 많은 시간이 흘렀습니다</a:t>
            </a:r>
            <a:r>
              <a:rPr lang="en-US" altLang="ko-KR" sz="3600" dirty="0"/>
              <a:t>.</a:t>
            </a:r>
            <a:endParaRPr lang="ko-KR" altLang="en-US" sz="3600" dirty="0"/>
          </a:p>
        </p:txBody>
      </p:sp>
      <p:sp>
        <p:nvSpPr>
          <p:cNvPr id="6" name="웃는 얼굴 5">
            <a:extLst>
              <a:ext uri="{FF2B5EF4-FFF2-40B4-BE49-F238E27FC236}">
                <a16:creationId xmlns:a16="http://schemas.microsoft.com/office/drawing/2014/main" id="{CA627F73-FE44-5A29-B8D9-79C963B67658}"/>
              </a:ext>
            </a:extLst>
          </p:cNvPr>
          <p:cNvSpPr/>
          <p:nvPr/>
        </p:nvSpPr>
        <p:spPr>
          <a:xfrm>
            <a:off x="2223435" y="1676849"/>
            <a:ext cx="1426677" cy="1426677"/>
          </a:xfrm>
          <a:prstGeom prst="smileyFace">
            <a:avLst/>
          </a:prstGeom>
          <a:solidFill>
            <a:srgbClr val="00B0F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웃는 얼굴 6">
            <a:extLst>
              <a:ext uri="{FF2B5EF4-FFF2-40B4-BE49-F238E27FC236}">
                <a16:creationId xmlns:a16="http://schemas.microsoft.com/office/drawing/2014/main" id="{EE15CA93-D9F5-18B4-1601-123B69700401}"/>
              </a:ext>
            </a:extLst>
          </p:cNvPr>
          <p:cNvSpPr/>
          <p:nvPr/>
        </p:nvSpPr>
        <p:spPr>
          <a:xfrm>
            <a:off x="8541888" y="1676848"/>
            <a:ext cx="1426677" cy="1426677"/>
          </a:xfrm>
          <a:prstGeom prst="smileyFac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7548305-C9B8-7009-7320-E25111F1CBCA}"/>
              </a:ext>
            </a:extLst>
          </p:cNvPr>
          <p:cNvCxnSpPr/>
          <p:nvPr/>
        </p:nvCxnSpPr>
        <p:spPr>
          <a:xfrm flipH="1">
            <a:off x="5216893" y="616017"/>
            <a:ext cx="1626669" cy="35035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04380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28BB25-7CD6-429F-E704-EC59E42B3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DD0D5F-4C34-457C-42A0-7DD635C80D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아담은 이제 자신만의 확고한 기준을 세웠습니다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아담의 심판장에 들어온 명제함수는</a:t>
            </a:r>
            <a:r>
              <a:rPr lang="en-US" altLang="ko-KR" sz="2400" dirty="0"/>
              <a:t>, </a:t>
            </a:r>
            <a:r>
              <a:rPr lang="ko-KR" altLang="en-US" sz="2400" dirty="0"/>
              <a:t>어떤 값을 대입하더라도 꿋꿋이 참이 </a:t>
            </a:r>
            <a:r>
              <a:rPr lang="ko-KR" altLang="en-US" sz="2400" dirty="0" err="1"/>
              <a:t>되어야만</a:t>
            </a:r>
            <a:r>
              <a:rPr lang="ko-KR" altLang="en-US" sz="2400" dirty="0"/>
              <a:t> 완전무결한 선</a:t>
            </a:r>
            <a:r>
              <a:rPr lang="en-US" altLang="ko-KR" sz="2400" dirty="0"/>
              <a:t>(</a:t>
            </a:r>
            <a:r>
              <a:rPr lang="ko-KR" altLang="en-US" sz="2400" dirty="0"/>
              <a:t>善</a:t>
            </a:r>
            <a:r>
              <a:rPr lang="en-US" altLang="ko-KR" sz="2400" dirty="0"/>
              <a:t>)</a:t>
            </a:r>
            <a:r>
              <a:rPr lang="ko-KR" altLang="en-US" sz="2400" dirty="0"/>
              <a:t>으로 인정받아 천사가 되었습니다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sp>
        <p:nvSpPr>
          <p:cNvPr id="4" name="웃는 얼굴 3">
            <a:extLst>
              <a:ext uri="{FF2B5EF4-FFF2-40B4-BE49-F238E27FC236}">
                <a16:creationId xmlns:a16="http://schemas.microsoft.com/office/drawing/2014/main" id="{0B2E517E-27CC-CA2C-F685-92598EC42D75}"/>
              </a:ext>
            </a:extLst>
          </p:cNvPr>
          <p:cNvSpPr/>
          <p:nvPr/>
        </p:nvSpPr>
        <p:spPr>
          <a:xfrm>
            <a:off x="4874618" y="1238184"/>
            <a:ext cx="2442764" cy="2442764"/>
          </a:xfrm>
          <a:prstGeom prst="smileyFace">
            <a:avLst/>
          </a:prstGeom>
          <a:solidFill>
            <a:srgbClr val="00B0F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15807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28BB25-7CD6-429F-E704-EC59E42B3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DD0D5F-4C34-457C-42A0-7DD635C80D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이브도 마찬가지였지만</a:t>
            </a:r>
            <a:r>
              <a:rPr lang="en-US" altLang="ko-KR" sz="2400" dirty="0"/>
              <a:t>, </a:t>
            </a:r>
            <a:r>
              <a:rPr lang="ko-KR" altLang="en-US" sz="2400" dirty="0"/>
              <a:t>그 기준이 아주 딴판이었습니다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이브는 명제함수를 참으로 만드는 변수의 예시가 단 하나라도 있다면</a:t>
            </a:r>
            <a:r>
              <a:rPr lang="en-US" altLang="ko-KR" sz="2400" dirty="0"/>
              <a:t>, </a:t>
            </a:r>
            <a:r>
              <a:rPr lang="ko-KR" altLang="en-US" sz="2400" dirty="0"/>
              <a:t>개과천선의 여지를 인정하여 참의 진릿값을 부여하였습니다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sp>
        <p:nvSpPr>
          <p:cNvPr id="4" name="웃는 얼굴 3">
            <a:extLst>
              <a:ext uri="{FF2B5EF4-FFF2-40B4-BE49-F238E27FC236}">
                <a16:creationId xmlns:a16="http://schemas.microsoft.com/office/drawing/2014/main" id="{0B2E517E-27CC-CA2C-F685-92598EC42D75}"/>
              </a:ext>
            </a:extLst>
          </p:cNvPr>
          <p:cNvSpPr/>
          <p:nvPr/>
        </p:nvSpPr>
        <p:spPr>
          <a:xfrm>
            <a:off x="4874618" y="1238184"/>
            <a:ext cx="2442764" cy="2442764"/>
          </a:xfrm>
          <a:prstGeom prst="smileyFac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94059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15D734-74AF-FB4B-46AE-A4B25C417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B51F6E-18BA-A338-9ED8-C800CF9C26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명제함수들은 당연히 이브 심판관에게 </a:t>
            </a:r>
            <a:r>
              <a:rPr lang="ko-KR" altLang="en-US" sz="2400" dirty="0" err="1"/>
              <a:t>심판받기를</a:t>
            </a:r>
            <a:r>
              <a:rPr lang="ko-KR" altLang="en-US" sz="2400" dirty="0"/>
              <a:t> 원했습니다</a:t>
            </a:r>
            <a:r>
              <a:rPr lang="en-US" altLang="ko-KR" sz="2400" dirty="0"/>
              <a:t>. </a:t>
            </a:r>
            <a:r>
              <a:rPr lang="ko-KR" altLang="en-US" sz="2400" dirty="0"/>
              <a:t>기준이 너무 달라 신의 귀에 결국 항의가 들어가게 되었고</a:t>
            </a:r>
            <a:r>
              <a:rPr lang="en-US" altLang="ko-KR" sz="2400" dirty="0"/>
              <a:t>, </a:t>
            </a:r>
            <a:r>
              <a:rPr lang="ko-KR" altLang="en-US" sz="2400" dirty="0"/>
              <a:t>신은 두 심판관이 다시 하나의 심판장을 만들 것을 명령하였습니다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sp>
        <p:nvSpPr>
          <p:cNvPr id="4" name="웃는 얼굴 3">
            <a:extLst>
              <a:ext uri="{FF2B5EF4-FFF2-40B4-BE49-F238E27FC236}">
                <a16:creationId xmlns:a16="http://schemas.microsoft.com/office/drawing/2014/main" id="{C8391983-DCFF-C394-0644-F47BC012E42E}"/>
              </a:ext>
            </a:extLst>
          </p:cNvPr>
          <p:cNvSpPr/>
          <p:nvPr/>
        </p:nvSpPr>
        <p:spPr>
          <a:xfrm>
            <a:off x="6785810" y="2974206"/>
            <a:ext cx="1963554" cy="652380"/>
          </a:xfrm>
          <a:prstGeom prst="smileyFace">
            <a:avLst/>
          </a:prstGeom>
          <a:solidFill>
            <a:srgbClr val="00B0F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웃는 얼굴 4">
            <a:extLst>
              <a:ext uri="{FF2B5EF4-FFF2-40B4-BE49-F238E27FC236}">
                <a16:creationId xmlns:a16="http://schemas.microsoft.com/office/drawing/2014/main" id="{65511AEB-F1CA-9EED-9941-2947543156BF}"/>
              </a:ext>
            </a:extLst>
          </p:cNvPr>
          <p:cNvSpPr/>
          <p:nvPr/>
        </p:nvSpPr>
        <p:spPr>
          <a:xfrm>
            <a:off x="9188919" y="2974206"/>
            <a:ext cx="1963554" cy="652380"/>
          </a:xfrm>
          <a:prstGeom prst="smileyFac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CFABFB-C192-AFFE-A62A-E3A8A0AB3ED6}"/>
              </a:ext>
            </a:extLst>
          </p:cNvPr>
          <p:cNvSpPr txBox="1"/>
          <p:nvPr/>
        </p:nvSpPr>
        <p:spPr>
          <a:xfrm>
            <a:off x="8441356" y="3626586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아닙니다</a:t>
            </a:r>
            <a:r>
              <a:rPr lang="en-US" altLang="ko-KR" dirty="0"/>
              <a:t>		</a:t>
            </a:r>
            <a:r>
              <a:rPr lang="ko-KR" altLang="en-US" dirty="0"/>
              <a:t>죄송합니다</a:t>
            </a:r>
          </a:p>
        </p:txBody>
      </p:sp>
      <p:sp>
        <p:nvSpPr>
          <p:cNvPr id="7" name="별: 꼭짓점 7개 6">
            <a:extLst>
              <a:ext uri="{FF2B5EF4-FFF2-40B4-BE49-F238E27FC236}">
                <a16:creationId xmlns:a16="http://schemas.microsoft.com/office/drawing/2014/main" id="{9D307A47-2880-C76A-74BD-AEADA9B035C8}"/>
              </a:ext>
            </a:extLst>
          </p:cNvPr>
          <p:cNvSpPr/>
          <p:nvPr/>
        </p:nvSpPr>
        <p:spPr>
          <a:xfrm>
            <a:off x="-2425566" y="-1376414"/>
            <a:ext cx="6480302" cy="4350619"/>
          </a:xfrm>
          <a:prstGeom prst="star7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FF4F46-2B69-6616-E7A6-FBC7DDD3C269}"/>
              </a:ext>
            </a:extLst>
          </p:cNvPr>
          <p:cNvSpPr txBox="1"/>
          <p:nvPr/>
        </p:nvSpPr>
        <p:spPr>
          <a:xfrm>
            <a:off x="3349591" y="1732548"/>
            <a:ext cx="476284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 err="1"/>
              <a:t>일처리</a:t>
            </a:r>
            <a:r>
              <a:rPr lang="ko-KR" altLang="en-US" sz="2800" dirty="0"/>
              <a:t> </a:t>
            </a:r>
            <a:r>
              <a:rPr lang="ko-KR" altLang="en-US" sz="2800" dirty="0" err="1"/>
              <a:t>그따구로</a:t>
            </a:r>
            <a:r>
              <a:rPr lang="ko-KR" altLang="en-US" sz="2800" dirty="0"/>
              <a:t> 하라고 했나</a:t>
            </a:r>
            <a:endParaRPr lang="en-US" altLang="ko-KR" sz="2800" dirty="0"/>
          </a:p>
          <a:p>
            <a:r>
              <a:rPr lang="ko-KR" altLang="en-US" sz="2800" dirty="0"/>
              <a:t>죄송하면 형벌이 끝나나</a:t>
            </a:r>
            <a:r>
              <a:rPr lang="en-US" altLang="ko-KR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836964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B6F176-0A81-012A-975A-2C89B4C1E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517477-E092-4749-8C89-8FF3FD2EC7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아담과 이브는 서로 자신의 기준으로 명제함수를 평가해야 옳다고 우겼습니다</a:t>
            </a:r>
            <a:r>
              <a:rPr lang="en-US" altLang="ko-KR" sz="2400" dirty="0"/>
              <a:t>. </a:t>
            </a:r>
            <a:r>
              <a:rPr lang="ko-KR" altLang="en-US" sz="2400" dirty="0"/>
              <a:t>싸움은 단 </a:t>
            </a:r>
            <a:r>
              <a:rPr lang="en-US" altLang="ko-KR" sz="2400" dirty="0"/>
              <a:t>1</a:t>
            </a:r>
            <a:r>
              <a:rPr lang="ko-KR" altLang="en-US" sz="2400" dirty="0"/>
              <a:t>초도 끊이지 않았고</a:t>
            </a:r>
            <a:r>
              <a:rPr lang="en-US" altLang="ko-KR" sz="2400" dirty="0"/>
              <a:t>, </a:t>
            </a:r>
            <a:r>
              <a:rPr lang="ko-KR" altLang="en-US" sz="2400" dirty="0"/>
              <a:t>명제함수의 대기줄은 길어져만 갔습니다</a:t>
            </a:r>
            <a:r>
              <a:rPr lang="en-US" altLang="ko-KR" sz="2400" dirty="0"/>
              <a:t>. </a:t>
            </a:r>
            <a:r>
              <a:rPr lang="ko-KR" altLang="en-US" sz="2400" dirty="0"/>
              <a:t>결국 신의 개입으로 평가 방식이 결정되었습니다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sp>
        <p:nvSpPr>
          <p:cNvPr id="4" name="웃는 얼굴 3">
            <a:extLst>
              <a:ext uri="{FF2B5EF4-FFF2-40B4-BE49-F238E27FC236}">
                <a16:creationId xmlns:a16="http://schemas.microsoft.com/office/drawing/2014/main" id="{3DB171D2-69EC-E269-1AE7-3455C6A748D8}"/>
              </a:ext>
            </a:extLst>
          </p:cNvPr>
          <p:cNvSpPr/>
          <p:nvPr/>
        </p:nvSpPr>
        <p:spPr>
          <a:xfrm>
            <a:off x="2762450" y="1676850"/>
            <a:ext cx="1426677" cy="1426677"/>
          </a:xfrm>
          <a:prstGeom prst="smileyFace">
            <a:avLst/>
          </a:prstGeom>
          <a:solidFill>
            <a:srgbClr val="00B0F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웃는 얼굴 4">
            <a:extLst>
              <a:ext uri="{FF2B5EF4-FFF2-40B4-BE49-F238E27FC236}">
                <a16:creationId xmlns:a16="http://schemas.microsoft.com/office/drawing/2014/main" id="{3061C691-FDAF-8117-5991-04C4EECB5769}"/>
              </a:ext>
            </a:extLst>
          </p:cNvPr>
          <p:cNvSpPr/>
          <p:nvPr/>
        </p:nvSpPr>
        <p:spPr>
          <a:xfrm>
            <a:off x="8101264" y="1676850"/>
            <a:ext cx="1426677" cy="1426677"/>
          </a:xfrm>
          <a:prstGeom prst="smileyFac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75000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B6F176-0A81-012A-975A-2C89B4C1E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F2517477-E092-4749-8C89-8FF3FD2EC71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 sz="2400" dirty="0"/>
                  <a:t>신은 두 심판관이 수천 년에 걸쳐 개발한 심판 방식을 모두 존중하였습니다</a:t>
                </a:r>
                <a:r>
                  <a:rPr lang="en-US" altLang="ko-KR" sz="2400" dirty="0"/>
                  <a:t>. </a:t>
                </a:r>
                <a:r>
                  <a:rPr lang="ko-KR" altLang="en-US" sz="2400" dirty="0"/>
                  <a:t>신은 아담의</a:t>
                </a:r>
                <a:r>
                  <a:rPr lang="en-US" altLang="ko-KR" sz="2400" dirty="0"/>
                  <a:t> </a:t>
                </a:r>
                <a:r>
                  <a:rPr lang="ko-KR" altLang="en-US" sz="2400" dirty="0"/>
                  <a:t>이름을 본떠 기호 </a:t>
                </a:r>
                <a14:m>
                  <m:oMath xmlns:m="http://schemas.openxmlformats.org/officeDocument/2006/math">
                    <m:r>
                      <a:rPr lang="ko-KR" altLang="en-US" sz="2400" i="1" smtClean="0">
                        <a:latin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ko-KR" altLang="en-US" sz="2400" dirty="0" err="1"/>
                  <a:t>를</a:t>
                </a:r>
                <a:r>
                  <a:rPr lang="en-US" altLang="ko-KR" sz="2400" dirty="0"/>
                  <a:t>, </a:t>
                </a:r>
                <a:r>
                  <a:rPr lang="ko-KR" altLang="en-US" sz="2400" dirty="0"/>
                  <a:t>이브의 이름을 본떠 기호 </a:t>
                </a:r>
                <a14:m>
                  <m:oMath xmlns:m="http://schemas.openxmlformats.org/officeDocument/2006/math">
                    <m:r>
                      <a:rPr lang="ko-KR" altLang="en-US" sz="240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ko-KR" altLang="en-US" sz="2400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ko-KR" altLang="en-US" sz="2400" dirty="0"/>
                  <a:t> 만들었습니다</a:t>
                </a:r>
                <a:r>
                  <a:rPr lang="en-US" altLang="ko-KR" sz="2400" dirty="0"/>
                  <a:t>.</a:t>
                </a:r>
                <a:endParaRPr lang="ko-KR" altLang="en-US" sz="2400" dirty="0"/>
              </a:p>
            </p:txBody>
          </p:sp>
        </mc:Choice>
        <mc:Fallback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F2517477-E092-4749-8C89-8FF3FD2EC7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445" r="-3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웃는 얼굴 3">
            <a:extLst>
              <a:ext uri="{FF2B5EF4-FFF2-40B4-BE49-F238E27FC236}">
                <a16:creationId xmlns:a16="http://schemas.microsoft.com/office/drawing/2014/main" id="{3DB171D2-69EC-E269-1AE7-3455C6A748D8}"/>
              </a:ext>
            </a:extLst>
          </p:cNvPr>
          <p:cNvSpPr/>
          <p:nvPr/>
        </p:nvSpPr>
        <p:spPr>
          <a:xfrm>
            <a:off x="2762450" y="1676850"/>
            <a:ext cx="1426677" cy="1426677"/>
          </a:xfrm>
          <a:prstGeom prst="smileyFace">
            <a:avLst/>
          </a:prstGeom>
          <a:solidFill>
            <a:srgbClr val="00B0F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웃는 얼굴 4">
            <a:extLst>
              <a:ext uri="{FF2B5EF4-FFF2-40B4-BE49-F238E27FC236}">
                <a16:creationId xmlns:a16="http://schemas.microsoft.com/office/drawing/2014/main" id="{3061C691-FDAF-8117-5991-04C4EECB5769}"/>
              </a:ext>
            </a:extLst>
          </p:cNvPr>
          <p:cNvSpPr/>
          <p:nvPr/>
        </p:nvSpPr>
        <p:spPr>
          <a:xfrm>
            <a:off x="8101264" y="1676850"/>
            <a:ext cx="1426677" cy="1426677"/>
          </a:xfrm>
          <a:prstGeom prst="smileyFac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15417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7CE17F99-4D95-750B-7F79-90DD6361EF9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[∃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:</m:t>
                    </m:r>
                    <m:d>
                      <m:dPr>
                        <m:begChr m:val="["/>
                        <m:endChr m:val="]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=9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](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ko-KR" altLang="en-US" dirty="0"/>
                  <a:t>는 자연수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en-US" altLang="ko-KR" dirty="0"/>
                </a:br>
                <a:r>
                  <a:rPr lang="ko-KR" altLang="en-US" dirty="0"/>
                  <a:t>또는 간략하게</a:t>
                </a:r>
                <a:br>
                  <a:rPr lang="en-US" altLang="ko-KR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:3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7CE17F99-4D95-750B-7F79-90DD6361EF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39D49446-0056-4108-FCE4-8486E42304C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 sz="2400" dirty="0"/>
                  <a:t>이제 명제함수는 각 변수에 대한 꼬리표를 붙이고 심판을 받습니다</a:t>
                </a:r>
                <a:r>
                  <a:rPr lang="en-US" altLang="ko-KR" sz="2400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ko-KR" altLang="en-US" sz="240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2400" b="0" i="0" smtClean="0">
                        <a:latin typeface="Cambria Math" panose="02040503050406030204" pitchFamily="18" charset="0"/>
                      </a:rPr>
                      <m:t>(…)</m:t>
                    </m:r>
                    <m:r>
                      <a:rPr lang="ko-KR" altLang="en-US" sz="2400" i="1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ko-KR" altLang="en-US" sz="2400" dirty="0"/>
                  <a:t> 모든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sz="2400" dirty="0"/>
                  <a:t>에 대해 괄호 안의 명제함수가 참이면 참인 명제</a:t>
                </a:r>
                <a:r>
                  <a:rPr lang="en-US" altLang="ko-KR" sz="2400" dirty="0"/>
                  <a:t>,</a:t>
                </a:r>
              </a:p>
              <a:p>
                <a14:m>
                  <m:oMath xmlns:m="http://schemas.openxmlformats.org/officeDocument/2006/math">
                    <m:r>
                      <a:rPr lang="ko-KR" altLang="en-US" sz="240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(…)</m:t>
                    </m:r>
                  </m:oMath>
                </a14:m>
                <a:r>
                  <a:rPr lang="ko-KR" altLang="en-US" sz="2400" dirty="0"/>
                  <a:t>는 어떤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sz="2400" dirty="0"/>
                  <a:t>에 대해 괄호 안이 참이면 참인 명제라는 표현입니다</a:t>
                </a:r>
                <a:r>
                  <a:rPr lang="en-US" altLang="ko-KR" sz="2400" dirty="0"/>
                  <a:t>.</a:t>
                </a:r>
                <a:endParaRPr lang="ko-KR" altLang="en-US" sz="2400" dirty="0"/>
              </a:p>
            </p:txBody>
          </p:sp>
        </mc:Choice>
        <mc:Fallback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39D49446-0056-4108-FCE4-8486E42304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t="-3571" b="-79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9834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C15282-569E-EB6F-D917-D2DF12890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FA65E3-2855-8669-3D9F-12291ED7D6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그렇게 명제함수 앞에 꼬리표를 붙여 명제를 만드는 방법은 아담과 </a:t>
            </a:r>
            <a:r>
              <a:rPr lang="ko-KR" altLang="en-US" sz="2400" dirty="0" err="1"/>
              <a:t>이브에</a:t>
            </a:r>
            <a:r>
              <a:rPr lang="ko-KR" altLang="en-US" sz="2400" dirty="0"/>
              <a:t> 의해 불완전하게 연구되다가 신에 의해 정립되게 되었습니다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신은 매우 기뻐하며 아담과 이브를 형벌에서 구제해 주었습니다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sp>
        <p:nvSpPr>
          <p:cNvPr id="4" name="웃는 얼굴 3">
            <a:extLst>
              <a:ext uri="{FF2B5EF4-FFF2-40B4-BE49-F238E27FC236}">
                <a16:creationId xmlns:a16="http://schemas.microsoft.com/office/drawing/2014/main" id="{1BEDB420-6A4C-D7F2-55FF-A1C85EB17B6A}"/>
              </a:ext>
            </a:extLst>
          </p:cNvPr>
          <p:cNvSpPr/>
          <p:nvPr/>
        </p:nvSpPr>
        <p:spPr>
          <a:xfrm>
            <a:off x="6785810" y="2974206"/>
            <a:ext cx="1963554" cy="652380"/>
          </a:xfrm>
          <a:prstGeom prst="smileyFace">
            <a:avLst/>
          </a:prstGeom>
          <a:solidFill>
            <a:srgbClr val="00B0F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웃는 얼굴 4">
            <a:extLst>
              <a:ext uri="{FF2B5EF4-FFF2-40B4-BE49-F238E27FC236}">
                <a16:creationId xmlns:a16="http://schemas.microsoft.com/office/drawing/2014/main" id="{6739E668-3E7A-743C-239F-557A99D6541B}"/>
              </a:ext>
            </a:extLst>
          </p:cNvPr>
          <p:cNvSpPr/>
          <p:nvPr/>
        </p:nvSpPr>
        <p:spPr>
          <a:xfrm>
            <a:off x="9188919" y="2974206"/>
            <a:ext cx="1963554" cy="652380"/>
          </a:xfrm>
          <a:prstGeom prst="smileyFac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별: 꼭짓점 7개 5">
            <a:extLst>
              <a:ext uri="{FF2B5EF4-FFF2-40B4-BE49-F238E27FC236}">
                <a16:creationId xmlns:a16="http://schemas.microsoft.com/office/drawing/2014/main" id="{65845BD2-2496-06D3-68CB-2611C953760F}"/>
              </a:ext>
            </a:extLst>
          </p:cNvPr>
          <p:cNvSpPr/>
          <p:nvPr/>
        </p:nvSpPr>
        <p:spPr>
          <a:xfrm>
            <a:off x="-2425566" y="-1376414"/>
            <a:ext cx="6480302" cy="4350619"/>
          </a:xfrm>
          <a:prstGeom prst="star7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537FD8-CF01-A5A4-27E5-AD6FB6CA5812}"/>
              </a:ext>
            </a:extLst>
          </p:cNvPr>
          <p:cNvSpPr txBox="1"/>
          <p:nvPr/>
        </p:nvSpPr>
        <p:spPr>
          <a:xfrm>
            <a:off x="3349591" y="1732548"/>
            <a:ext cx="646843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/>
              <a:t>앞으로 또 걸리면 더 혼날 줄 알아라</a:t>
            </a:r>
            <a:endParaRPr lang="en-US" altLang="ko-KR" sz="2800" dirty="0"/>
          </a:p>
          <a:p>
            <a:r>
              <a:rPr lang="ko-KR" altLang="en-US" sz="2800" dirty="0"/>
              <a:t>사과 같은 거 아무거나 </a:t>
            </a:r>
            <a:r>
              <a:rPr lang="ko-KR" altLang="en-US" sz="2800" dirty="0" err="1"/>
              <a:t>줏어다</a:t>
            </a:r>
            <a:r>
              <a:rPr lang="ko-KR" altLang="en-US" sz="2800" dirty="0"/>
              <a:t> 묵지 말고</a:t>
            </a:r>
            <a:endParaRPr lang="en-US" altLang="ko-KR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BADEDE-DBFA-8783-50D7-7A0178EE6029}"/>
              </a:ext>
            </a:extLst>
          </p:cNvPr>
          <p:cNvSpPr txBox="1"/>
          <p:nvPr/>
        </p:nvSpPr>
        <p:spPr>
          <a:xfrm>
            <a:off x="8441356" y="3626586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넹</a:t>
            </a:r>
            <a:r>
              <a:rPr lang="en-US" altLang="ko-KR" dirty="0"/>
              <a:t>					</a:t>
            </a:r>
            <a:r>
              <a:rPr lang="ko-KR" altLang="en-US" sz="1200" dirty="0"/>
              <a:t>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26296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FA65E3-2855-8669-3D9F-12291ED7D6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신은 자동화한 도구로 한정기호를 사용한 명제들의 참</a:t>
            </a:r>
            <a:r>
              <a:rPr lang="en-US" altLang="ko-KR" sz="2400" dirty="0"/>
              <a:t>/</a:t>
            </a:r>
            <a:r>
              <a:rPr lang="ko-KR" altLang="en-US" sz="2400" dirty="0"/>
              <a:t>거짓을 얼마 안 가 판별해 </a:t>
            </a:r>
            <a:r>
              <a:rPr lang="ko-KR" altLang="en-US" sz="2400" dirty="0" err="1"/>
              <a:t>내었고</a:t>
            </a:r>
            <a:r>
              <a:rPr lang="en-US" altLang="ko-KR" sz="2400" dirty="0"/>
              <a:t>, </a:t>
            </a:r>
            <a:r>
              <a:rPr lang="ko-KR" altLang="en-US" sz="2400" dirty="0"/>
              <a:t>아담과 이브는 여러 명제를 하나로 묶은 새 명제들을 보며 오래오래 행복하게 지냈답니다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sp>
        <p:nvSpPr>
          <p:cNvPr id="9" name="웃는 얼굴 8">
            <a:extLst>
              <a:ext uri="{FF2B5EF4-FFF2-40B4-BE49-F238E27FC236}">
                <a16:creationId xmlns:a16="http://schemas.microsoft.com/office/drawing/2014/main" id="{EB9BAC7E-4B77-5B06-5099-4D15715746D7}"/>
              </a:ext>
            </a:extLst>
          </p:cNvPr>
          <p:cNvSpPr/>
          <p:nvPr/>
        </p:nvSpPr>
        <p:spPr>
          <a:xfrm>
            <a:off x="2762450" y="1676850"/>
            <a:ext cx="1426677" cy="1426677"/>
          </a:xfrm>
          <a:prstGeom prst="smileyFace">
            <a:avLst/>
          </a:prstGeom>
          <a:solidFill>
            <a:srgbClr val="00B0F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웃는 얼굴 9">
            <a:extLst>
              <a:ext uri="{FF2B5EF4-FFF2-40B4-BE49-F238E27FC236}">
                <a16:creationId xmlns:a16="http://schemas.microsoft.com/office/drawing/2014/main" id="{C026389E-523B-87CA-A652-F25F917443FF}"/>
              </a:ext>
            </a:extLst>
          </p:cNvPr>
          <p:cNvSpPr/>
          <p:nvPr/>
        </p:nvSpPr>
        <p:spPr>
          <a:xfrm>
            <a:off x="8101264" y="1676850"/>
            <a:ext cx="1426677" cy="1426677"/>
          </a:xfrm>
          <a:prstGeom prst="smileyFac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D21528-72D2-1C17-5977-4200AF8D1A8C}"/>
              </a:ext>
            </a:extLst>
          </p:cNvPr>
          <p:cNvSpPr txBox="1"/>
          <p:nvPr/>
        </p:nvSpPr>
        <p:spPr>
          <a:xfrm>
            <a:off x="7623209" y="3244334"/>
            <a:ext cx="29674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마지막까지도 우려 먹냐 하늘아</a:t>
            </a:r>
            <a:endParaRPr lang="en-US" altLang="ko-KR" sz="1400" dirty="0"/>
          </a:p>
          <a:p>
            <a:r>
              <a:rPr lang="ko-KR" altLang="en-US" sz="1400" dirty="0"/>
              <a:t>결말 쓴 꼴 보니까 넌 일단 거짓이다</a:t>
            </a:r>
          </a:p>
        </p:txBody>
      </p:sp>
    </p:spTree>
    <p:extLst>
      <p:ext uri="{BB962C8B-B14F-4D97-AF65-F5344CB8AC3E}">
        <p14:creationId xmlns:p14="http://schemas.microsoft.com/office/powerpoint/2010/main" val="17829910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5824887-FEDB-4936-6E9B-90A1ED983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즐거운 수학 시간 시작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C4399F1-72A5-C747-078D-BA874C763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sz="2800" dirty="0"/>
              <a:t>이 발표의 논지를 조금 설명해 드리자면</a:t>
            </a:r>
            <a:r>
              <a:rPr lang="en-US" altLang="ko-KR" sz="2800" dirty="0"/>
              <a:t>…</a:t>
            </a:r>
          </a:p>
          <a:p>
            <a:r>
              <a:rPr lang="ko-KR" altLang="en-US" dirty="0"/>
              <a:t>수학과에서 얻어 가는 소양은 다름아닌 </a:t>
            </a:r>
            <a:r>
              <a:rPr lang="ko-KR" altLang="en-US" dirty="0">
                <a:solidFill>
                  <a:srgbClr val="002060"/>
                </a:solidFill>
              </a:rPr>
              <a:t>논리력</a:t>
            </a:r>
            <a:endParaRPr lang="en-US" altLang="ko-KR" dirty="0">
              <a:solidFill>
                <a:srgbClr val="002060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문제풀이의 반복에서는 잘 드러나지 않지만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학부 수학 공부에서는 결국 증명 논리를 잘 받아들이는 사람이 성공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수학과가 아니더라도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적분 등의 수학을 공부하는 것은 이를 적재적소에 활용하고자 하는 것</a:t>
            </a:r>
            <a:r>
              <a:rPr lang="en-US" altLang="ko-KR" dirty="0">
                <a:solidFill>
                  <a:schemeClr val="tx1"/>
                </a:solidFill>
              </a:rPr>
              <a:t>!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따라서 문제는 이해를 돕기 위해서만 풀고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rgbClr val="002060"/>
                </a:solidFill>
              </a:rPr>
              <a:t>논리적인 흐름 이해</a:t>
            </a:r>
            <a:r>
              <a:rPr lang="ko-KR" altLang="en-US" dirty="0">
                <a:solidFill>
                  <a:schemeClr val="tx1"/>
                </a:solidFill>
              </a:rPr>
              <a:t> 추구</a:t>
            </a:r>
            <a:endParaRPr lang="en-US" altLang="ko-K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913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125333-61F0-153D-7FA0-B9A19CE7E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명제함수로 표현하기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106299D-F7B4-6197-CBB7-3312D309A3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b="0" dirty="0"/>
                  <a:t>명제함수 </a:t>
                </a:r>
                <a:r>
                  <a:rPr lang="en-US" altLang="ko-KR" b="0" dirty="0"/>
                  <a:t>“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ko-KR" altLang="en-US" dirty="0"/>
                  <a:t>년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ko-KR" altLang="en-US" dirty="0"/>
                  <a:t>월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ko-KR" altLang="en-US" dirty="0"/>
                  <a:t>일에 서울에 비가 내린다</a:t>
                </a:r>
                <a:r>
                  <a:rPr lang="en-US" altLang="ko-KR" dirty="0"/>
                  <a:t>.”</a:t>
                </a:r>
                <a:r>
                  <a:rPr lang="ko-KR" altLang="en-US" dirty="0"/>
                  <a:t>를 가지고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ko-KR" altLang="en-US" dirty="0"/>
                  <a:t>에 적당한 한정 기호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ko-KR" altLang="en-US" dirty="0"/>
                  <a:t>를 붙여 다음 명제를 표현해 봅시다</a:t>
                </a:r>
                <a:r>
                  <a:rPr lang="en-US" altLang="ko-KR" dirty="0"/>
                  <a:t>.</a:t>
                </a:r>
              </a:p>
              <a:p>
                <a:endParaRPr lang="en-US" altLang="ko-KR" dirty="0"/>
              </a:p>
              <a:p>
                <a:r>
                  <a:rPr lang="en-US" altLang="ko-KR" dirty="0"/>
                  <a:t>(1) </a:t>
                </a:r>
                <a:r>
                  <a:rPr lang="ko-KR" altLang="en-US" dirty="0"/>
                  <a:t>서울엔 한 달 내내 비가 내리는 달이 매년 있다</a:t>
                </a:r>
                <a:r>
                  <a:rPr lang="en-US" altLang="ko-KR" dirty="0"/>
                  <a:t>.</a:t>
                </a:r>
              </a:p>
              <a:p>
                <a:r>
                  <a:rPr lang="en-US" altLang="ko-KR" dirty="0"/>
                  <a:t>(2) </a:t>
                </a:r>
                <a:r>
                  <a:rPr lang="ko-KR" altLang="en-US" dirty="0"/>
                  <a:t>어떤 해에는 서울에 비가 한 방울도 안 내린 달은 없었다</a:t>
                </a:r>
                <a:r>
                  <a:rPr lang="en-US" altLang="ko-KR" dirty="0"/>
                  <a:t>.</a:t>
                </a:r>
              </a:p>
              <a:p>
                <a:r>
                  <a:rPr lang="en-US" altLang="ko-KR" dirty="0"/>
                  <a:t>(3) </a:t>
                </a:r>
                <a:r>
                  <a:rPr lang="ko-KR" altLang="en-US" dirty="0"/>
                  <a:t>어떤 달에는 꼭 그 달 내내 서울에 비가 내린다</a:t>
                </a:r>
                <a:r>
                  <a:rPr lang="en-US" altLang="ko-KR" dirty="0"/>
                  <a:t>.</a:t>
                </a: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106299D-F7B4-6197-CBB7-3312D309A3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44" t="-27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15815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46B2BB6-F69C-64CA-6F20-A7A9EA98B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3600" dirty="0"/>
              <a:t>한정기호로 표현된 명제의 참</a:t>
            </a:r>
            <a:r>
              <a:rPr lang="en-US" altLang="ko-KR" sz="3600" dirty="0"/>
              <a:t>/</a:t>
            </a:r>
            <a:r>
              <a:rPr lang="ko-KR" altLang="en-US" sz="3600" dirty="0"/>
              <a:t>거짓 판별하기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D4652091-4EEA-CE74-4D04-BA98B98090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:3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=9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정수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/>
                  <a:t> (</a:t>
                </a:r>
                <a:r>
                  <a:rPr lang="ko-KR" altLang="en-US" dirty="0"/>
                  <a:t>거짓인 명제</a:t>
                </a:r>
                <a:r>
                  <a:rPr lang="en-US" altLang="ko-KR" dirty="0"/>
                  <a:t>)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dirty="0"/>
                  <a:t>이런 모양의 명제에 대한 증명을 찾아 보면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 마치 이 게임의 필승 전략을 이브의 입장에서 서술하는 것과 매우 흡사합니다</a:t>
                </a:r>
                <a:r>
                  <a:rPr lang="en-US" altLang="ko-KR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dirty="0"/>
                  <a:t>아담이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ko-KR" altLang="en-US" dirty="0"/>
                  <a:t>를 고르면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이브는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ko-KR" altLang="en-US" dirty="0"/>
                  <a:t>인 정수를 골라야만 식이 참이 될 텐데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이는 불가능합니다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고로 아담에게 필승 전략이 있습니다</a:t>
                </a:r>
                <a:r>
                  <a:rPr lang="en-US" altLang="ko-KR" dirty="0"/>
                  <a:t>.</a:t>
                </a:r>
              </a:p>
            </p:txBody>
          </p:sp>
        </mc:Choice>
        <mc:Fallback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D4652091-4EEA-CE74-4D04-BA98B98090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82692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F477BD-884A-27EF-B7E5-828D2DFD4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Final Example : </a:t>
            </a:r>
            <a:r>
              <a:rPr lang="ko-KR" altLang="en-US" dirty="0"/>
              <a:t>수열의 극한 증명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759682A-23FC-F893-84CB-E8F609DF3F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수열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o-KR" altLang="en-US" dirty="0"/>
                  <a:t>에 대해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ko-KR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fun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ko-KR" altLang="en-US" dirty="0"/>
                  <a:t>임을 보여 봅시다</a:t>
                </a:r>
                <a:r>
                  <a:rPr lang="en-US" altLang="ko-KR" dirty="0"/>
                  <a:t>.</a:t>
                </a:r>
              </a:p>
              <a:p>
                <a:pPr marL="0" indent="0">
                  <a:buNone/>
                </a:pPr>
                <a:r>
                  <a:rPr lang="ko-KR" altLang="en-US" dirty="0"/>
                  <a:t>정의에 따르면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우리가 참으로 밝혀야 할 명제는</a:t>
                </a:r>
                <a:r>
                  <a:rPr lang="en-US" altLang="ko-KR" dirty="0"/>
                  <a:t>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→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altLang="ko-KR" dirty="0"/>
              </a:p>
              <a:p>
                <a:pPr marL="0" indent="0">
                  <a:buNone/>
                </a:pPr>
                <a:r>
                  <a:rPr lang="ko-KR" altLang="en-US" dirty="0"/>
                  <a:t>라는 명제로 정리할 수 있습니다</a:t>
                </a:r>
                <a:r>
                  <a:rPr lang="en-US" altLang="ko-KR" dirty="0"/>
                  <a:t>.</a:t>
                </a:r>
              </a:p>
              <a:p>
                <a:pPr marL="0" indent="0">
                  <a:buNone/>
                </a:pPr>
                <a:endParaRPr lang="en-US" altLang="ko-KR" dirty="0"/>
              </a:p>
              <a:p>
                <a:r>
                  <a:rPr lang="ko-KR" altLang="en-US" dirty="0"/>
                  <a:t>아담과 이브의 게임에서 이브의 필승 전략을 찾아 봅시다</a:t>
                </a:r>
                <a:r>
                  <a:rPr lang="en-US" altLang="ko-KR" dirty="0"/>
                  <a:t>.</a:t>
                </a: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759682A-23FC-F893-84CB-E8F609DF3F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44" t="-27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29183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17C6BB-910E-161A-ABD5-FACCC202B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Final Example : </a:t>
            </a:r>
            <a:r>
              <a:rPr lang="ko-KR" altLang="en-US" dirty="0"/>
              <a:t>수열의 극한 증명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F55F44E-15A0-712D-1287-6B55C61CD5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altLang="ko-KR" dirty="0"/>
              </a:p>
              <a:p>
                <a:endParaRPr lang="en-US" altLang="ko-KR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+4=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e>
                        </m:d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ko-KR" altLang="en-US" dirty="0"/>
                  <a:t>이므로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임</a:t>
                </a:r>
                <a14:m>
                  <m:oMath xmlns:m="http://schemas.openxmlformats.org/officeDocument/2006/math">
                    <m:r>
                      <a:rPr lang="ko-KR" altLang="en-US" b="0" i="1" dirty="0">
                        <a:latin typeface="Cambria Math" panose="02040503050406030204" pitchFamily="18" charset="0"/>
                      </a:rPr>
                      <m:t>의</m:t>
                    </m:r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의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에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대</m:t>
                    </m:r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하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여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lang="ko-KR" altLang="en-US" dirty="0"/>
                  <a:t>입니다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아담이 먼저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ko-KR" altLang="en-US" dirty="0"/>
                  <a:t>을 정하고 이브가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ko-KR" altLang="en-US" dirty="0"/>
                  <a:t>을 정할 차례에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이브의 전략은 아담이 가져온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ko-KR" altLang="en-US" dirty="0"/>
                  <a:t>보다 </a:t>
                </a:r>
                <a:r>
                  <a:rPr lang="en-US" altLang="ko-KR" dirty="0"/>
                  <a:t>4</a:t>
                </a:r>
                <a:r>
                  <a:rPr lang="ko-KR" altLang="en-US" dirty="0"/>
                  <a:t>만큼 큰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+4</m:t>
                    </m:r>
                  </m:oMath>
                </a14:m>
                <a:r>
                  <a:rPr lang="ko-KR" altLang="en-US" dirty="0"/>
                  <a:t>를 부르는 것입니다</a:t>
                </a:r>
                <a:r>
                  <a:rPr lang="en-US" altLang="ko-KR" dirty="0"/>
                  <a:t>.</a:t>
                </a:r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F55F44E-15A0-712D-1287-6B55C61CD5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469B943F-A8E1-C52D-B391-5364B447E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2183" y="2094398"/>
            <a:ext cx="5467631" cy="1244664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209A2FD-0534-3F3E-20F3-CEF9CF4C78BC}"/>
              </a:ext>
            </a:extLst>
          </p:cNvPr>
          <p:cNvCxnSpPr/>
          <p:nvPr/>
        </p:nvCxnSpPr>
        <p:spPr>
          <a:xfrm>
            <a:off x="5216893" y="3003082"/>
            <a:ext cx="8791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7720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17C6BB-910E-161A-ABD5-FACCC202B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Final Example : </a:t>
            </a:r>
            <a:r>
              <a:rPr lang="ko-KR" altLang="en-US" dirty="0"/>
              <a:t>수열의 극한 증명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F55F44E-15A0-712D-1287-6B55C61CD5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altLang="ko-KR" dirty="0"/>
              </a:p>
              <a:p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아</m:t>
                    </m:r>
                  </m:oMath>
                </a14:m>
                <a:r>
                  <a:rPr lang="ko-KR" altLang="en-US" dirty="0"/>
                  <a:t>담이 어떤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ko-KR" altLang="en-US" dirty="0"/>
                  <a:t>을 택하더라도</a:t>
                </a:r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dirty="0"/>
                  <a:t>을 결코 거짓으로 만들 수는 없습니다</a:t>
                </a:r>
                <a:r>
                  <a:rPr lang="en-US" altLang="ko-KR" dirty="0"/>
                  <a:t>.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+4</m:t>
                    </m:r>
                  </m:oMath>
                </a14:m>
                <a:r>
                  <a:rPr lang="ko-KR" altLang="en-US" dirty="0"/>
                  <a:t>이면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−4=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ko-KR" altLang="en-US" dirty="0"/>
                  <a:t>이기 때문입니다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이브에게 필승전략이 있으므로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이 명제는 참임을 알 수 있습니다</a:t>
                </a:r>
                <a:r>
                  <a:rPr lang="en-US" altLang="ko-KR" dirty="0"/>
                  <a:t>.</a:t>
                </a: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F55F44E-15A0-712D-1287-6B55C61CD5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469B943F-A8E1-C52D-B391-5364B447E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792" y="2050103"/>
            <a:ext cx="5467631" cy="124466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434C4DB-C1A6-6627-E1DA-CA3188A2D6D2}"/>
                  </a:ext>
                </a:extLst>
              </p:cNvPr>
              <p:cNvSpPr txBox="1"/>
              <p:nvPr/>
            </p:nvSpPr>
            <p:spPr>
              <a:xfrm>
                <a:off x="7576618" y="2233766"/>
                <a:ext cx="3048783" cy="64633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lang="en-US" altLang="ko-KR" dirty="0"/>
                  <a:t>(</a:t>
                </a:r>
                <a:r>
                  <a:rPr lang="ko-KR" altLang="en-US" dirty="0"/>
                  <a:t>모든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o-KR" altLang="en-US" dirty="0"/>
                  <a:t>에 대하여</a:t>
                </a:r>
                <a:r>
                  <a:rPr lang="en-US" altLang="ko-KR" dirty="0"/>
                  <a:t>)</a:t>
                </a:r>
              </a:p>
              <a:p>
                <a:r>
                  <a:rPr lang="ko-KR" altLang="en-US" dirty="0"/>
                  <a:t>이브는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+4</m:t>
                    </m:r>
                  </m:oMath>
                </a14:m>
                <a:r>
                  <a:rPr lang="ko-KR" altLang="en-US" dirty="0"/>
                  <a:t>로 택했음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434C4DB-C1A6-6627-E1DA-CA3188A2D6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6618" y="2233766"/>
                <a:ext cx="3048783" cy="646331"/>
              </a:xfrm>
              <a:prstGeom prst="rect">
                <a:avLst/>
              </a:prstGeom>
              <a:blipFill>
                <a:blip r:embed="rId4"/>
                <a:stretch>
                  <a:fillRect l="-1800" t="-8491" r="-800" b="-103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28B2043-DE8E-2B13-19EF-BE685591A724}"/>
              </a:ext>
            </a:extLst>
          </p:cNvPr>
          <p:cNvCxnSpPr/>
          <p:nvPr/>
        </p:nvCxnSpPr>
        <p:spPr>
          <a:xfrm>
            <a:off x="4697129" y="2964581"/>
            <a:ext cx="161704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9234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B07ED-3253-0519-F703-37B6741F8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감사합니다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99FBAE-86D5-BAAE-3764-2166AC750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일어나세요</a:t>
            </a:r>
            <a:r>
              <a:rPr lang="en-US" altLang="ko-KR"/>
              <a:t>~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3234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자연주의">
  <a:themeElements>
    <a:clrScheme name="자연주의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자연주의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자연주의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471</TotalTime>
  <Words>1409</Words>
  <Application>Microsoft Office PowerPoint</Application>
  <PresentationFormat>와이드스크린</PresentationFormat>
  <Paragraphs>112</Paragraphs>
  <Slides>32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6" baseType="lpstr">
      <vt:lpstr>Arial</vt:lpstr>
      <vt:lpstr>Cambria Math</vt:lpstr>
      <vt:lpstr>Garamond</vt:lpstr>
      <vt:lpstr>자연주의</vt:lpstr>
      <vt:lpstr>아담과 이브, 그리고 명제 이야기</vt:lpstr>
      <vt:lpstr>저는 무교입니다.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∀x[∃y :[3x+2y=9]](x, y는 자연수) 또는 간략하게 ∀x∃y :3x+2y=9</vt:lpstr>
      <vt:lpstr>PowerPoint 프레젠테이션</vt:lpstr>
      <vt:lpstr>PowerPoint 프레젠테이션</vt:lpstr>
      <vt:lpstr>즐거운 수학 시간 시작!</vt:lpstr>
      <vt:lpstr>명제함수로 표현하기</vt:lpstr>
      <vt:lpstr>한정기호로 표현된 명제의 참/거짓 판별하기</vt:lpstr>
      <vt:lpstr>Final Example : 수열의 극한 증명</vt:lpstr>
      <vt:lpstr>Final Example : 수열의 극한 증명</vt:lpstr>
      <vt:lpstr>Final Example : 수열의 극한 증명</vt:lpstr>
      <vt:lpstr>감사합니다!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아담과 이브, 그리고 명제 이야기</dc:title>
  <dc:creator>주 하늘</dc:creator>
  <cp:lastModifiedBy>주 하늘</cp:lastModifiedBy>
  <cp:revision>95</cp:revision>
  <dcterms:created xsi:type="dcterms:W3CDTF">2023-01-16T23:21:42Z</dcterms:created>
  <dcterms:modified xsi:type="dcterms:W3CDTF">2023-01-17T07:13:25Z</dcterms:modified>
</cp:coreProperties>
</file>